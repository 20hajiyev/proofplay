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3716000" cy="771525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ProofPlay oyunun öz fizikası ilə məsləhəti yoxlayır. Başlıqdan dərhal sonra əvvəlki oyun haqqında açıqlamaya keçin.</a:t>
            </a:r>
          </a:p>
          <a:p>
            <a:endParaRPr/>
          </a:p>
          <a:p>
            <a:r>
              <a:t>Tövsiyə olunan vaxt: 10 saniyə.</a:t>
            </a:r>
          </a:p>
          <a:p>
            <a:r>
              <a:t>Mənbə: docs/hackathon/PROOFPLAY_PITCH_INFO.md. Layihə ölçmələri: 9 oktyabr 2026. Dizayn istinadı və komanda məlumatı: C:/Users/Sanan/Downloads/ProofPlay.pdf. Qiymətləndirmə meyarları layihənin pitch sənədindən götürülüb.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İlk 20 saniyədə bu açıqlamanı deyin: RIVAL LINE əvvəlki işimizdir. Hakaton işi ProofPlay qatıdır. Yazıcı, analiz, kontrafaktik sübut, leaderboard yoxlaması və dashboard yeni işdir. Şəkil layihənin real oyun görüntüsüdür.</a:t>
            </a:r>
          </a:p>
          <a:p>
            <a:endParaRPr/>
          </a:p>
          <a:p>
            <a:r>
              <a:t>Tövsiyə olunan vaxt: 15 saniyə.</a:t>
            </a:r>
          </a:p>
          <a:p>
            <a:r>
              <a:t>Mənbə: docs/hackathon/PROOFPLAY_PITCH_INFO.md. Layihə ölçmələri: 9 oktyabr 2026. Dizayn istinadı və komanda məlumatı: C:/Users/Sanan/Downloads/ProofPlay.pdf. Qiymətləndirmə meyarları layihənin pitch sənədindən götürülüb.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konkret davranışdır: oyunçu növbəti yarışda nəyi dəyişməli olduğunu bilmir. Real klaviatura yarışında əsas itki ilk 820 metrdə idi. Bu tək nümunədir, istifadəçi sorğusu və ya ümumi bazar statistikası deyil.</a:t>
            </a:r>
          </a:p>
          <a:p>
            <a:endParaRPr/>
          </a:p>
          <a:p>
            <a:r>
              <a:t>Tövsiyə olunan vaxt: 25 saniyə.</a:t>
            </a:r>
          </a:p>
          <a:p>
            <a:r>
              <a:t>Mənbə: docs/hackathon/PROOFPLAY_PITCH_INFO.md. Layihə ölçmələri: 9 oktyabr 2026. Dizayn istinadı və komanda məlumatı: C:/Users/Sanan/Downloads/ProofPlay.pdf. Qiymətləndirmə meyarları layihənin pitch sənədindən götürülüb.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hissəsi kontrafaktik axtarış və prioritetləşdirmədir. Eyni oyunun fizikası ilə namizəd dəyişikliklər sınanır. Altı bacarıq: sürət, xətt, döyüş, müdafiə, sabitlik, bərpa. Sübut yalnız simulyasiya daxilindəki yaxşılaşmanı bildirir, real insanın mütləq yaxşılaşmasını vəd etmir.</a:t>
            </a:r>
          </a:p>
          <a:p>
            <a:endParaRPr/>
          </a:p>
          <a:p>
            <a:r>
              <a:t>Tövsiyə olunan vaxt: 25 saniyə.</a:t>
            </a:r>
          </a:p>
          <a:p>
            <a:r>
              <a:t>Mənbə: docs/hackathon/PROOFPLAY_PITCH_INFO.md. Layihə ölçmələri: 9 oktyabr 2026. Dizayn istinadı və komanda məlumatı: C:/Users/Sanan/Downloads/ProofPlay.pdf. Qiymətləndirmə meyarları layihənin pitch sənədindən götürülüb.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Canlı demoya keçin. Dashboard-da ilkin baxış, bacarıq profili, xəritə və düzəliş müqayisəsini göstərin. Bot testindən nümunə: döngə 3-də 30 m gec tormoz, +1.22 saniyə, 11 simulyasiya. Bu bot nümunəsidir. Real insan yarışında sübutlu döngə düzəlişi tapılmadı və sistem bunu açıq dedi. Tam analiz 4 maşında təxminən 90 s, 12 maşında 200 s çəkir. Səhnədə gözləməmək üçün əvvəlcədən tamamlanmış hesabatı açın, yeni yarışın ilkin baxışını ayrıca göstərin.</a:t>
            </a:r>
          </a:p>
          <a:p>
            <a:endParaRPr/>
          </a:p>
          <a:p>
            <a:r>
              <a:t>Tövsiyə olunan vaxt: 90 saniyə.</a:t>
            </a:r>
          </a:p>
          <a:p>
            <a:r>
              <a:t>Mənbə: docs/hackathon/PROOFPLAY_PITCH_INFO.md. Layihə ölçmələri: 9 oktyabr 2026. Dizayn istinadı və komanda məlumatı: C:/Users/Sanan/Downloads/ProofPlay.pdf. Qiymətləndirmə meyarları layihənin pitch sənədindən götürülüb.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ProofPlay yalnız simulyasiyada işlədiyini yoxladığı məsləhətləri göstərir. Ona görə 100% konstruksiyaya görədir. Eyni 14 yarışın 12-sində tormoz qüsuru qəsdən əkilib. Rule: 12/32 işləyir, 19/32 pisləşmə və ya qəza. LLM: 26/34 işləyir, 7/34 pisləşmə və ya qəza. ProofPlay: 31/31 işləyir. Orta qazanc 1.054 s və 0.633 s, təxminən 1.7 dəfə fərq. Bu insan pilotunun nəticəsi deyil.</a:t>
            </a:r>
          </a:p>
          <a:p>
            <a:endParaRPr/>
          </a:p>
          <a:p>
            <a:r>
              <a:t>Tövsiyə olunan vaxt: 35 saniyə.</a:t>
            </a:r>
          </a:p>
          <a:p>
            <a:r>
              <a:t>Mənbə: proofplay/results/benchmark.md; docs/hackathon/PROOFPLAY_PITCH_INFO.md, bölmə 6.1. Layihə ölçmələri: 9 oktyabr 2026. Dizayn istinadı və komanda məlumatı: C:/Users/Sanan/Downloads/ProofPlay.pdf. Qiymətləndirmə meyarları layihənin pitch sənədindən götürülüb.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Deterministik replay sübutun əsasıdır. 22,627 addım olan real yarış bit-bit eyni təkrarlandı. On saxta sessiya rədd edildi, orijinal qəbul edildi. Nəticə ekranındakı altı sahə iki yarışda tam uyğun gəldi. Replay yoxlaması girişlərin insan tərəfindən yaradıldığını sübut etmir.</a:t>
            </a:r>
          </a:p>
          <a:p>
            <a:endParaRPr/>
          </a:p>
          <a:p>
            <a:r>
              <a:t>Tövsiyə olunan vaxt: 20 saniyə.</a:t>
            </a:r>
          </a:p>
          <a:p>
            <a:r>
              <a:t>Mənbə: docs/hackathon/PROOFPLAY_PITCH_INFO.md. Layihə ölçmələri: 9 oktyabr 2026. Dizayn istinadı və komanda məlumatı: C:/Users/Sanan/Downloads/ProofPlay.pdf. Qiymətləndirmə meyarları layihənin pitch sənədindən götürülüb.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Uğursuzluqları açıq deyin. Sürətli insan oyunçuda tormoz və qaz dəyişikliyi qazanc vermədi. İnsan və bot girişləri arasında fərq tapılıb, amma n=1 hədd üçün kifayət deyil. Bəzi böyük simulyasiya qazancları döyüş hadisələrindən gələ bilər, buna görə sabitlik yoxlaması lazımdır. Deterministik olmayan oyunlar əlavə vəziyyət snapşotu tələb edir.</a:t>
            </a:r>
          </a:p>
          <a:p>
            <a:endParaRPr/>
          </a:p>
          <a:p>
            <a:r>
              <a:t>Tövsiyə olunan vaxt: 25 saniyə.</a:t>
            </a:r>
          </a:p>
          <a:p>
            <a:r>
              <a:t>Mənbə: docs/hackathon/PROOFPLAY_PITCH_INFO.md. Layihə ölçmələri: 9 oktyabr 2026. Dizayn istinadı və komanda məlumatı: C:/Users/Sanan/Downloads/ProofPlay.pdf. Qiymətləndirmə meyarları layihənin pitch sənədindən götürülüb.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İcra xərci CPU vaxtıdır. $0 LLM yalnız sübut mühərrikinin LLM xərcidir, ümumi infrastrukturun pulsuz olduğunu bildirmir. 39 MB bir prosesin ölçülmüş yaddaşıdır. Gələcək işlər plan olaraq deyilir: insan pilotu, anti-cheat üçün data, snapşotla sürətləndirmə, ikinci janr adapteri. 10 dəfə sürətləndirmə hələ ölçülməyib, onu nəticə kimi deməyin.</a:t>
            </a:r>
          </a:p>
          <a:p>
            <a:endParaRPr/>
          </a:p>
          <a:p>
            <a:r>
              <a:t>Tövsiyə olunan vaxt: 30 saniyə.</a:t>
            </a:r>
          </a:p>
          <a:p>
            <a:r>
              <a:t>Mənbə: docs/hackathon/PROOFPLAY_PITCH_INFO.md. Layihə ölçmələri: 9 oktyabr 2026. Dizayn istinadı və komanda məlumatı: C:/Users/Sanan/Downloads/ProofPlay.pdf. Qiymətləndirmə meyarları layihənin pitch sənədindən götürülüb.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Replay sürəti ilə tam analiz sürətini qarışdırmayın. 26× yalnız bir replay üçündür. Tam analiz çoxsaylı namizəd simulyasiyalarına görə 90–200 saniyə çəkir. LLM xərci müqayisə mühərrikinə aiddir.</a:t>
            </a:r>
          </a:p>
          <a:p>
            <a:endParaRPr/>
          </a:p>
          <a:p>
            <a:r>
              <a:t>Tövsiyə olunan vaxt: 0 saniyə.</a:t>
            </a:r>
          </a:p>
          <a:p>
            <a:r>
              <a:t>Mənbə: docs/hackathon/PROOFPLAY_PITCH_INFO.md. Layihə ölçmələri: 9 oktyabr 2026. Dizayn istinadı və komanda məlumatı: C:/Users/Sanan/Downloads/ProofPlay.pdf. Qiymətləndirmə meyarları layihənin pitch sənədindən götürülüb.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Meyarlar layihənin PROOFPLAY_PITCH_INFO sənədindəki AI Gaming kartındandır. Rəsmi qaydaların ayrıca yoxlandığı iddiası edilməməlidir. AI klassik axtarış və planlaşdırmadır, LLM asılılığı yoxdur. Adapter gələcək işdir, başqa janr inteqrasiyası bu gün hazır deyil.</a:t>
            </a:r>
          </a:p>
          <a:p>
            <a:endParaRPr/>
          </a:p>
          <a:p>
            <a:r>
              <a:t>Tövsiyə olunan vaxt: 0 saniyə.</a:t>
            </a:r>
          </a:p>
          <a:p>
            <a:r>
              <a:t>Mənbə: docs/hackathon/PROOFPLAY_PITCH_INFO.md. Layihə ölçmələri: 9 oktyabr 2026. Dizayn istinadı və komanda məlumatı: C:/Users/Sanan/Downloads/ProofPlay.pdf. Qiymətləndirmə meyarları layihənin pitch sənədindən götürülüb.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Komandanı təqdim edin. Yekun: ProofPlay məsləhəti oyunun fizikası ilə yoxlayır və sübut tapılmadıqda bunu açıq deyir. Əsas pitch 5 dəqiqədir. Növbəti iki slayd sual-cavab üçün əlavə materialdır.</a:t>
            </a:r>
          </a:p>
          <a:p>
            <a:endParaRPr/>
          </a:p>
          <a:p>
            <a:r>
              <a:t>Tövsiyə olunan vaxt: 25 saniyə.</a:t>
            </a:r>
          </a:p>
          <a:p>
            <a:r>
              <a:t>Mənbə: C:/Users/Sanan/Downloads/ProofPlay.pdf, səhifə 8. Layihə ölçmələri: 9 oktyabr 2026. Dizayn istinadı və komanda məlumatı: C:/Users/Sanan/Downloads/ProofPlay.pdf. Qiymətləndirmə meyarları layihənin pitch sənədindən götürülüb.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4DB0B31-E9C0-4D5F-9804-AB288A48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914650"/>
            <a:ext cx="10972800" cy="111442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43DD040-6680-4A89-9374-C02B0AE68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243388"/>
            <a:ext cx="9601200" cy="857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E5916CE-4F0A-4ABA-ABA3-2E5F0EBD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214688"/>
            <a:ext cx="10972800" cy="128587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D73203-5AA7-4D24-92E6-98F8AC2DA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600075"/>
            <a:ext cx="12172950" cy="94297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075B817-DE22-4694-9B0A-D7855AB77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5" y="2143125"/>
            <a:ext cx="12172950" cy="480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79F51F0-DA6B-46DF-BB8E-7AE1E02A8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600075"/>
            <a:ext cx="12172950" cy="94297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4D01D43-DBCC-4D36-952A-33FC5CBB3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5" y="2143125"/>
            <a:ext cx="5657850" cy="480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59FBD0B-3B39-4580-8A39-6627473D759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286625" y="2143125"/>
            <a:ext cx="5657850" cy="480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C02C3FC-B62A-448A-B925-AD069EF65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600075"/>
            <a:ext cx="12172950" cy="94297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C39F69E-E952-465B-BF9A-76B89DC04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5" y="2143125"/>
            <a:ext cx="5657850" cy="480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>
            <a:extLst>
              <a:ext uri="{FF2B5EF4-FFF2-40B4-BE49-F238E27FC236}">
                <a16:creationId xmlns:a16="http://schemas.microsoft.com/office/drawing/2014/main" id="{2A68E76F-A034-4D5C-8FCF-F3702CA31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342900"/>
            <a:ext cx="2057400" cy="600075"/>
          </a:xfrm>
          <a:prstGeom prst="rect">
            <a:avLst/>
          </a:prstGeom>
        </p:spPr>
      </p:pic>
      <p:sp>
        <p:nvSpPr>
          <p:cNvPr id="2" name="Presented by AVIS">
            <a:extLst>
              <a:ext uri="{FF2B5EF4-FFF2-40B4-BE49-F238E27FC236}">
                <a16:creationId xmlns:a16="http://schemas.microsoft.com/office/drawing/2014/main" id="{D6FACAA6-A867-49F6-A5E5-66B9C9150DB6}"/>
              </a:ext>
            </a:extLst>
          </p:cNvPr>
          <p:cNvSpPr>
            <a:spLocks noGrp="1"/>
          </p:cNvSpPr>
          <p:nvPr/>
        </p:nvSpPr>
        <p:spPr>
          <a:xfrm>
            <a:off x="9858375" y="428625"/>
            <a:ext cx="31718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75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875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FBFB4"/>
                </a:solidFill>
                <a:latin typeface="Arial"/>
                <a:ea typeface="Arial"/>
                <a:cs typeface="Arial"/>
              </a:rPr>
              <a:t>Presented by AVIS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8E7AA5D-8F7B-44B4-A24D-5B6D91D76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57375"/>
            <a:ext cx="6858000" cy="2000250"/>
          </a:xfrm>
          <a:prstGeom prst="rect">
            <a:avLst/>
          </a:prstGeom>
        </p:spPr>
      </p:pic>
      <p:sp>
        <p:nvSpPr>
          <p:cNvPr id="4" name="Proof, not guesswork.">
            <a:extLst>
              <a:ext uri="{FF2B5EF4-FFF2-40B4-BE49-F238E27FC236}">
                <a16:creationId xmlns:a16="http://schemas.microsoft.com/office/drawing/2014/main" id="{EB557B13-FDB2-4AFA-AB38-5DE3BCE1BA41}"/>
              </a:ext>
            </a:extLst>
          </p:cNvPr>
          <p:cNvSpPr>
            <a:spLocks noGrp="1"/>
          </p:cNvSpPr>
          <p:nvPr/>
        </p:nvSpPr>
        <p:spPr>
          <a:xfrm>
            <a:off x="800100" y="4086225"/>
            <a:ext cx="6858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8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5F8F6"/>
                </a:solidFill>
                <a:latin typeface="Arial"/>
                <a:ea typeface="Arial"/>
                <a:cs typeface="Arial"/>
              </a:rPr>
              <a:t>Proof, not guesswork.</a:t>
            </a:r>
          </a:p>
        </p:txBody>
      </p:sp>
      <p:sp>
        <p:nvSpPr>
          <p:cNvPr id="5" name="AI coaching verified in the game’s own physic">
            <a:extLst>
              <a:ext uri="{FF2B5EF4-FFF2-40B4-BE49-F238E27FC236}">
                <a16:creationId xmlns:a16="http://schemas.microsoft.com/office/drawing/2014/main" id="{F82C2C50-849B-4EE0-8785-7E6539CA2D8A}"/>
              </a:ext>
            </a:extLst>
          </p:cNvPr>
          <p:cNvSpPr>
            <a:spLocks noGrp="1"/>
          </p:cNvSpPr>
          <p:nvPr/>
        </p:nvSpPr>
        <p:spPr>
          <a:xfrm>
            <a:off x="800100" y="5010150"/>
            <a:ext cx="6191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FBFB4"/>
                </a:solidFill>
                <a:latin typeface="Arial"/>
                <a:ea typeface="Arial"/>
                <a:cs typeface="Arial"/>
              </a:rPr>
              <a:t>AI coaching verified in the game’s own physics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19E4B84E-B30B-4030-975E-E1D0B6FEE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0500" y="2689564"/>
            <a:ext cx="5334000" cy="3336247"/>
          </a:xfrm>
          <a:prstGeom prst="rect">
            <a:avLst/>
          </a:prstGeom>
        </p:spPr>
      </p:pic>
      <p:sp>
        <p:nvSpPr>
          <p:cNvPr id="7" name="AI Gaming">
            <a:extLst>
              <a:ext uri="{FF2B5EF4-FFF2-40B4-BE49-F238E27FC236}">
                <a16:creationId xmlns:a16="http://schemas.microsoft.com/office/drawing/2014/main" id="{881D95BF-CC8D-4C3E-A4F0-9FD7C6643B0A}"/>
              </a:ext>
            </a:extLst>
          </p:cNvPr>
          <p:cNvSpPr>
            <a:spLocks noGrp="1"/>
          </p:cNvSpPr>
          <p:nvPr/>
        </p:nvSpPr>
        <p:spPr>
          <a:xfrm>
            <a:off x="800100" y="681037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4AD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4ADE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ADE80"/>
                </a:solidFill>
                <a:latin typeface="Arial"/>
                <a:ea typeface="Arial"/>
                <a:cs typeface="Arial"/>
              </a:rPr>
              <a:t>AI Gaming</a:t>
            </a:r>
          </a:p>
        </p:txBody>
      </p:sp>
    </p:spTree>
    <p:extLst>
      <p:ext uri="{BB962C8B-B14F-4D97-AF65-F5344CB8AC3E}">
        <p14:creationId xmlns:p14="http://schemas.microsoft.com/office/powerpoint/2010/main" val="788553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Resim 9">
            <a:extLst>
              <a:ext uri="{FF2B5EF4-FFF2-40B4-BE49-F238E27FC236}">
                <a16:creationId xmlns:a16="http://schemas.microsoft.com/office/drawing/2014/main" id="{35F0F278-269B-4D53-98C2-787CC5724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342900"/>
            <a:ext cx="2057400" cy="600075"/>
          </a:xfrm>
          <a:prstGeom prst="rect">
            <a:avLst/>
          </a:prstGeom>
        </p:spPr>
      </p:pic>
      <p:sp>
        <p:nvSpPr>
          <p:cNvPr id="2" name="02">
            <a:extLst>
              <a:ext uri="{FF2B5EF4-FFF2-40B4-BE49-F238E27FC236}">
                <a16:creationId xmlns:a16="http://schemas.microsoft.com/office/drawing/2014/main" id="{A131E367-974A-4863-B5AE-ACD498E22A3F}"/>
              </a:ext>
            </a:extLst>
          </p:cNvPr>
          <p:cNvSpPr>
            <a:spLocks noGrp="1"/>
          </p:cNvSpPr>
          <p:nvPr/>
        </p:nvSpPr>
        <p:spPr>
          <a:xfrm>
            <a:off x="12287250" y="52387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What we built at the hackathon">
            <a:extLst>
              <a:ext uri="{FF2B5EF4-FFF2-40B4-BE49-F238E27FC236}">
                <a16:creationId xmlns:a16="http://schemas.microsoft.com/office/drawing/2014/main" id="{5C559FCE-FFB3-44CE-9C24-5351C7600284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23444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we built at the hackathon</a:t>
            </a:r>
          </a:p>
        </p:txBody>
      </p:sp>
      <p:sp>
        <p:nvSpPr>
          <p:cNvPr id="4" name="The game existed before the event. ProofPlay ">
            <a:extLst>
              <a:ext uri="{FF2B5EF4-FFF2-40B4-BE49-F238E27FC236}">
                <a16:creationId xmlns:a16="http://schemas.microsoft.com/office/drawing/2014/main" id="{0F5DE78C-C4CE-45E8-AA96-8E6F33F7731E}"/>
              </a:ext>
            </a:extLst>
          </p:cNvPr>
          <p:cNvSpPr>
            <a:spLocks noGrp="1"/>
          </p:cNvSpPr>
          <p:nvPr/>
        </p:nvSpPr>
        <p:spPr>
          <a:xfrm>
            <a:off x="685800" y="2105025"/>
            <a:ext cx="12344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The game existed before the event. ProofPlay is the new coaching layer.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C8CF824-E07A-4E52-B0A2-7ABCBC62F0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" r="25"/>
          <a:stretch>
            <a:fillRect/>
          </a:stretch>
        </p:blipFill>
        <p:spPr>
          <a:xfrm>
            <a:off x="685800" y="3048000"/>
            <a:ext cx="6096000" cy="3781425"/>
          </a:xfrm>
          <a:prstGeom prst="rect">
            <a:avLst/>
          </a:prstGeom>
        </p:spPr>
      </p:pic>
      <p:sp>
        <p:nvSpPr>
          <p:cNvPr id="6" name="RIVAL LINE">
            <a:extLst>
              <a:ext uri="{FF2B5EF4-FFF2-40B4-BE49-F238E27FC236}">
                <a16:creationId xmlns:a16="http://schemas.microsoft.com/office/drawing/2014/main" id="{3C6769E6-4A1F-405A-96DB-3B4D972F5AB4}"/>
              </a:ext>
            </a:extLst>
          </p:cNvPr>
          <p:cNvSpPr>
            <a:spLocks noGrp="1"/>
          </p:cNvSpPr>
          <p:nvPr/>
        </p:nvSpPr>
        <p:spPr>
          <a:xfrm>
            <a:off x="895350" y="7000875"/>
            <a:ext cx="590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56B68"/>
                </a:solidFill>
                <a:latin typeface="Arial"/>
                <a:ea typeface="Arial"/>
                <a:cs typeface="Arial"/>
              </a:rPr>
              <a:t>RIVAL LINE</a:t>
            </a:r>
          </a:p>
        </p:txBody>
      </p:sp>
      <p:sp>
        <p:nvSpPr>
          <p:cNvPr id="7" name="ProofPlay">
            <a:extLst>
              <a:ext uri="{FF2B5EF4-FFF2-40B4-BE49-F238E27FC236}">
                <a16:creationId xmlns:a16="http://schemas.microsoft.com/office/drawing/2014/main" id="{22D5B387-4AA7-41BF-AB65-64730778670E}"/>
              </a:ext>
            </a:extLst>
          </p:cNvPr>
          <p:cNvSpPr>
            <a:spLocks noGrp="1"/>
          </p:cNvSpPr>
          <p:nvPr/>
        </p:nvSpPr>
        <p:spPr>
          <a:xfrm>
            <a:off x="7477125" y="3028950"/>
            <a:ext cx="552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15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ProofPlay</a:t>
            </a:r>
          </a:p>
        </p:txBody>
      </p:sp>
      <p:sp>
        <p:nvSpPr>
          <p:cNvPr id="8" name="Race recording&#10;Replay analysis&#10;Counterfactual">
            <a:extLst>
              <a:ext uri="{FF2B5EF4-FFF2-40B4-BE49-F238E27FC236}">
                <a16:creationId xmlns:a16="http://schemas.microsoft.com/office/drawing/2014/main" id="{D165059F-44E5-4971-AF43-9D9A53D0B534}"/>
              </a:ext>
            </a:extLst>
          </p:cNvPr>
          <p:cNvSpPr>
            <a:spLocks noGrp="1"/>
          </p:cNvSpPr>
          <p:nvPr/>
        </p:nvSpPr>
        <p:spPr>
          <a:xfrm>
            <a:off x="7477125" y="3800475"/>
            <a:ext cx="5524500" cy="2505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Race recording</a:t>
            </a:r>
          </a:p>
          <a:p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Replay analysis</a:t>
            </a:r>
          </a:p>
          <a:p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Counterfactual search and proof</a:t>
            </a:r>
          </a:p>
          <a:p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Replay-verified leaderboard</a:t>
            </a:r>
          </a:p>
          <a:p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Race debrief dashboard</a:t>
            </a:r>
          </a:p>
        </p:txBody>
      </p:sp>
      <p:sp>
        <p:nvSpPr>
          <p:cNvPr id="9" name="New work lives in proofplay/">
            <a:extLst>
              <a:ext uri="{FF2B5EF4-FFF2-40B4-BE49-F238E27FC236}">
                <a16:creationId xmlns:a16="http://schemas.microsoft.com/office/drawing/2014/main" id="{CDBEF89A-3B8F-463A-8110-9071A43483F3}"/>
              </a:ext>
            </a:extLst>
          </p:cNvPr>
          <p:cNvSpPr>
            <a:spLocks noGrp="1"/>
          </p:cNvSpPr>
          <p:nvPr/>
        </p:nvSpPr>
        <p:spPr>
          <a:xfrm>
            <a:off x="7477125" y="67056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New work lives in proofplay/</a:t>
            </a:r>
          </a:p>
        </p:txBody>
      </p:sp>
    </p:spTree>
    <p:extLst>
      <p:ext uri="{BB962C8B-B14F-4D97-AF65-F5344CB8AC3E}">
        <p14:creationId xmlns:p14="http://schemas.microsoft.com/office/powerpoint/2010/main" val="1771620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Resim 11">
            <a:extLst>
              <a:ext uri="{FF2B5EF4-FFF2-40B4-BE49-F238E27FC236}">
                <a16:creationId xmlns:a16="http://schemas.microsoft.com/office/drawing/2014/main" id="{5834F86F-1003-4DCC-8898-67D6D3A32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342900"/>
            <a:ext cx="2057400" cy="600075"/>
          </a:xfrm>
          <a:prstGeom prst="rect">
            <a:avLst/>
          </a:prstGeom>
        </p:spPr>
      </p:pic>
      <p:sp>
        <p:nvSpPr>
          <p:cNvPr id="2" name="03">
            <a:extLst>
              <a:ext uri="{FF2B5EF4-FFF2-40B4-BE49-F238E27FC236}">
                <a16:creationId xmlns:a16="http://schemas.microsoft.com/office/drawing/2014/main" id="{1AA4DDB9-CCFE-4569-B038-323325D78743}"/>
              </a:ext>
            </a:extLst>
          </p:cNvPr>
          <p:cNvSpPr>
            <a:spLocks noGrp="1"/>
          </p:cNvSpPr>
          <p:nvPr/>
        </p:nvSpPr>
        <p:spPr>
          <a:xfrm>
            <a:off x="12287250" y="52387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Players need a change they can trust">
            <a:extLst>
              <a:ext uri="{FF2B5EF4-FFF2-40B4-BE49-F238E27FC236}">
                <a16:creationId xmlns:a16="http://schemas.microsoft.com/office/drawing/2014/main" id="{A3C9D488-4672-4E7E-AF99-19054C48491E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23444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Players need a change they can trust</a:t>
            </a:r>
          </a:p>
        </p:txBody>
      </p:sp>
      <p:sp>
        <p:nvSpPr>
          <p:cNvPr id="4" name="A race result explains the outcome. It does n">
            <a:extLst>
              <a:ext uri="{FF2B5EF4-FFF2-40B4-BE49-F238E27FC236}">
                <a16:creationId xmlns:a16="http://schemas.microsoft.com/office/drawing/2014/main" id="{51A79012-CACB-49FC-85A9-FD9BD5ADC9E6}"/>
              </a:ext>
            </a:extLst>
          </p:cNvPr>
          <p:cNvSpPr>
            <a:spLocks noGrp="1"/>
          </p:cNvSpPr>
          <p:nvPr/>
        </p:nvSpPr>
        <p:spPr>
          <a:xfrm>
            <a:off x="685800" y="2105025"/>
            <a:ext cx="12344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A race result explains the outcome. It does not tell the player what will work next time.</a:t>
            </a:r>
          </a:p>
        </p:txBody>
      </p:sp>
      <p:sp>
        <p:nvSpPr>
          <p:cNvPr id="5" name="“Where did I lose time?”">
            <a:extLst>
              <a:ext uri="{FF2B5EF4-FFF2-40B4-BE49-F238E27FC236}">
                <a16:creationId xmlns:a16="http://schemas.microsoft.com/office/drawing/2014/main" id="{AD5854EF-71D0-4F16-9BC5-B35227186F83}"/>
              </a:ext>
            </a:extLst>
          </p:cNvPr>
          <p:cNvSpPr>
            <a:spLocks noGrp="1"/>
          </p:cNvSpPr>
          <p:nvPr/>
        </p:nvSpPr>
        <p:spPr>
          <a:xfrm>
            <a:off x="685800" y="3228975"/>
            <a:ext cx="6953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“Where did I lose time?”</a:t>
            </a:r>
          </a:p>
        </p:txBody>
      </p:sp>
      <p:sp>
        <p:nvSpPr>
          <p:cNvPr id="6" name="Telemetry can locate slow sections.">
            <a:extLst>
              <a:ext uri="{FF2B5EF4-FFF2-40B4-BE49-F238E27FC236}">
                <a16:creationId xmlns:a16="http://schemas.microsoft.com/office/drawing/2014/main" id="{24F4F888-9A4E-4CDA-B1FD-7BF520C484BF}"/>
              </a:ext>
            </a:extLst>
          </p:cNvPr>
          <p:cNvSpPr>
            <a:spLocks noGrp="1"/>
          </p:cNvSpPr>
          <p:nvPr/>
        </p:nvSpPr>
        <p:spPr>
          <a:xfrm>
            <a:off x="685800" y="4010025"/>
            <a:ext cx="647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Telemetry can locate slow sections.</a:t>
            </a:r>
          </a:p>
        </p:txBody>
      </p:sp>
      <p:sp>
        <p:nvSpPr>
          <p:cNvPr id="7" name="“What should I change?”">
            <a:extLst>
              <a:ext uri="{FF2B5EF4-FFF2-40B4-BE49-F238E27FC236}">
                <a16:creationId xmlns:a16="http://schemas.microsoft.com/office/drawing/2014/main" id="{675024AF-B4D3-472F-954A-1F63C35707A5}"/>
              </a:ext>
            </a:extLst>
          </p:cNvPr>
          <p:cNvSpPr>
            <a:spLocks noGrp="1"/>
          </p:cNvSpPr>
          <p:nvPr/>
        </p:nvSpPr>
        <p:spPr>
          <a:xfrm>
            <a:off x="685800" y="4943475"/>
            <a:ext cx="6953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“What should I change?”</a:t>
            </a:r>
          </a:p>
        </p:txBody>
      </p:sp>
      <p:sp>
        <p:nvSpPr>
          <p:cNvPr id="8" name="A useful coach must test the proposed fix.">
            <a:extLst>
              <a:ext uri="{FF2B5EF4-FFF2-40B4-BE49-F238E27FC236}">
                <a16:creationId xmlns:a16="http://schemas.microsoft.com/office/drawing/2014/main" id="{8AABE6E6-AEFE-48FB-A353-6BC4BDF760CC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66675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A useful coach must test the proposed fix.</a:t>
            </a:r>
          </a:p>
        </p:txBody>
      </p:sp>
      <p:sp>
        <p:nvSpPr>
          <p:cNvPr id="9" name="23.2 s">
            <a:extLst>
              <a:ext uri="{FF2B5EF4-FFF2-40B4-BE49-F238E27FC236}">
                <a16:creationId xmlns:a16="http://schemas.microsoft.com/office/drawing/2014/main" id="{860CA262-B9BD-42EE-A141-9706A9C4BD98}"/>
              </a:ext>
            </a:extLst>
          </p:cNvPr>
          <p:cNvSpPr>
            <a:spLocks noGrp="1"/>
          </p:cNvSpPr>
          <p:nvPr/>
        </p:nvSpPr>
        <p:spPr>
          <a:xfrm>
            <a:off x="8848725" y="3276600"/>
            <a:ext cx="395287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05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5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23.2 s</a:t>
            </a:r>
          </a:p>
        </p:txBody>
      </p:sp>
      <p:sp>
        <p:nvSpPr>
          <p:cNvPr id="10" name="lost in the first 820 m">
            <a:extLst>
              <a:ext uri="{FF2B5EF4-FFF2-40B4-BE49-F238E27FC236}">
                <a16:creationId xmlns:a16="http://schemas.microsoft.com/office/drawing/2014/main" id="{A94647D1-5FDA-447E-91B1-23C06E54B606}"/>
              </a:ext>
            </a:extLst>
          </p:cNvPr>
          <p:cNvSpPr>
            <a:spLocks noGrp="1"/>
          </p:cNvSpPr>
          <p:nvPr/>
        </p:nvSpPr>
        <p:spPr>
          <a:xfrm>
            <a:off x="8877300" y="4524375"/>
            <a:ext cx="3952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lost in the first 820 m</a:t>
            </a:r>
          </a:p>
        </p:txBody>
      </p:sp>
      <p:sp>
        <p:nvSpPr>
          <p:cNvPr id="11" name="One real keyboard race.&#10;The player stopped du">
            <a:extLst>
              <a:ext uri="{FF2B5EF4-FFF2-40B4-BE49-F238E27FC236}">
                <a16:creationId xmlns:a16="http://schemas.microsoft.com/office/drawing/2014/main" id="{A8DC1FB1-8197-4789-B0EC-95438E2A68A0}"/>
              </a:ext>
            </a:extLst>
          </p:cNvPr>
          <p:cNvSpPr>
            <a:spLocks noGrp="1"/>
          </p:cNvSpPr>
          <p:nvPr/>
        </p:nvSpPr>
        <p:spPr>
          <a:xfrm>
            <a:off x="8877300" y="5219700"/>
            <a:ext cx="3857625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One real keyboard race.</a:t>
            </a:r>
          </a:p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The player stopped during lap 1.</a:t>
            </a:r>
          </a:p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Their own best lap exposed the loss.</a:t>
            </a:r>
          </a:p>
        </p:txBody>
      </p:sp>
    </p:spTree>
    <p:extLst>
      <p:ext uri="{BB962C8B-B14F-4D97-AF65-F5344CB8AC3E}">
        <p14:creationId xmlns:p14="http://schemas.microsoft.com/office/powerpoint/2010/main" val="185714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Resim 16">
            <a:extLst>
              <a:ext uri="{FF2B5EF4-FFF2-40B4-BE49-F238E27FC236}">
                <a16:creationId xmlns:a16="http://schemas.microsoft.com/office/drawing/2014/main" id="{38A75DAF-C589-4A8D-9797-28117E919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342900"/>
            <a:ext cx="2057400" cy="600075"/>
          </a:xfrm>
          <a:prstGeom prst="rect">
            <a:avLst/>
          </a:prstGeom>
        </p:spPr>
      </p:pic>
      <p:sp>
        <p:nvSpPr>
          <p:cNvPr id="2" name="04">
            <a:extLst>
              <a:ext uri="{FF2B5EF4-FFF2-40B4-BE49-F238E27FC236}">
                <a16:creationId xmlns:a16="http://schemas.microsoft.com/office/drawing/2014/main" id="{F6ECDDF4-C427-4771-97E0-06B50AA1D12C}"/>
              </a:ext>
            </a:extLst>
          </p:cNvPr>
          <p:cNvSpPr>
            <a:spLocks noGrp="1"/>
          </p:cNvSpPr>
          <p:nvPr/>
        </p:nvSpPr>
        <p:spPr>
          <a:xfrm>
            <a:off x="12287250" y="52387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he coaching loop">
            <a:extLst>
              <a:ext uri="{FF2B5EF4-FFF2-40B4-BE49-F238E27FC236}">
                <a16:creationId xmlns:a16="http://schemas.microsoft.com/office/drawing/2014/main" id="{27774672-A82F-4FB6-A267-4A49BDA75B5C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23444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coaching loop</a:t>
            </a:r>
          </a:p>
        </p:txBody>
      </p:sp>
      <p:sp>
        <p:nvSpPr>
          <p:cNvPr id="4" name="ProofPlay searches for small input changes an">
            <a:extLst>
              <a:ext uri="{FF2B5EF4-FFF2-40B4-BE49-F238E27FC236}">
                <a16:creationId xmlns:a16="http://schemas.microsoft.com/office/drawing/2014/main" id="{BF9AE30A-722A-4A3D-97D6-C4AD46F16E21}"/>
              </a:ext>
            </a:extLst>
          </p:cNvPr>
          <p:cNvSpPr>
            <a:spLocks noGrp="1"/>
          </p:cNvSpPr>
          <p:nvPr/>
        </p:nvSpPr>
        <p:spPr>
          <a:xfrm>
            <a:off x="685800" y="2105025"/>
            <a:ext cx="12344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ProofPlay searches for small input changes and tests them with real game physics.</a:t>
            </a:r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85967814-39A2-4AE4-B7BB-C9DADE7A158E}"/>
              </a:ext>
            </a:extLst>
          </p:cNvPr>
          <p:cNvSpPr>
            <a:spLocks noGrp="1"/>
          </p:cNvSpPr>
          <p:nvPr/>
        </p:nvSpPr>
        <p:spPr>
          <a:xfrm>
            <a:off x="685800" y="3152775"/>
            <a:ext cx="76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ord and replay">
            <a:extLst>
              <a:ext uri="{FF2B5EF4-FFF2-40B4-BE49-F238E27FC236}">
                <a16:creationId xmlns:a16="http://schemas.microsoft.com/office/drawing/2014/main" id="{4C87D06A-FF58-4959-B0E2-414E517D0CBA}"/>
              </a:ext>
            </a:extLst>
          </p:cNvPr>
          <p:cNvSpPr>
            <a:spLocks noGrp="1"/>
          </p:cNvSpPr>
          <p:nvPr/>
        </p:nvSpPr>
        <p:spPr>
          <a:xfrm>
            <a:off x="1638300" y="3152775"/>
            <a:ext cx="52387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 and replay</a:t>
            </a:r>
          </a:p>
        </p:txBody>
      </p:sp>
      <p:sp>
        <p:nvSpPr>
          <p:cNvPr id="7" name="Capture steering, throttle and brake.&#10;Reprodu">
            <a:extLst>
              <a:ext uri="{FF2B5EF4-FFF2-40B4-BE49-F238E27FC236}">
                <a16:creationId xmlns:a16="http://schemas.microsoft.com/office/drawing/2014/main" id="{71829521-80A9-41D3-91EC-978018EED3EA}"/>
              </a:ext>
            </a:extLst>
          </p:cNvPr>
          <p:cNvSpPr>
            <a:spLocks noGrp="1"/>
          </p:cNvSpPr>
          <p:nvPr/>
        </p:nvSpPr>
        <p:spPr>
          <a:xfrm>
            <a:off x="1638300" y="3848100"/>
            <a:ext cx="5238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Capture steering, throttle and brake.</a:t>
            </a:r>
          </a:p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Reproduce the race with identical inputs.</a:t>
            </a: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3E714C88-2535-4CF6-B8C7-64402737CF65}"/>
              </a:ext>
            </a:extLst>
          </p:cNvPr>
          <p:cNvSpPr>
            <a:spLocks noGrp="1"/>
          </p:cNvSpPr>
          <p:nvPr/>
        </p:nvSpPr>
        <p:spPr>
          <a:xfrm>
            <a:off x="7448550" y="3152775"/>
            <a:ext cx="76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Find the weak sections">
            <a:extLst>
              <a:ext uri="{FF2B5EF4-FFF2-40B4-BE49-F238E27FC236}">
                <a16:creationId xmlns:a16="http://schemas.microsoft.com/office/drawing/2014/main" id="{B21BA284-F9D7-4DBD-A66F-64BD7E846913}"/>
              </a:ext>
            </a:extLst>
          </p:cNvPr>
          <p:cNvSpPr>
            <a:spLocks noGrp="1"/>
          </p:cNvSpPr>
          <p:nvPr/>
        </p:nvSpPr>
        <p:spPr>
          <a:xfrm>
            <a:off x="8401050" y="3152775"/>
            <a:ext cx="52387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Find the weak sections</a:t>
            </a:r>
          </a:p>
        </p:txBody>
      </p:sp>
      <p:sp>
        <p:nvSpPr>
          <p:cNvPr id="10" name="Measure time lost at each corner.&#10;Build a pro">
            <a:extLst>
              <a:ext uri="{FF2B5EF4-FFF2-40B4-BE49-F238E27FC236}">
                <a16:creationId xmlns:a16="http://schemas.microsoft.com/office/drawing/2014/main" id="{C47D1AFC-77C7-403A-B166-B948B7B50298}"/>
              </a:ext>
            </a:extLst>
          </p:cNvPr>
          <p:cNvSpPr>
            <a:spLocks noGrp="1"/>
          </p:cNvSpPr>
          <p:nvPr/>
        </p:nvSpPr>
        <p:spPr>
          <a:xfrm>
            <a:off x="8401050" y="3848100"/>
            <a:ext cx="5238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Measure time lost at each corner.</a:t>
            </a:r>
          </a:p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Build a profile across six skills.</a:t>
            </a:r>
          </a:p>
        </p:txBody>
      </p:sp>
      <p:sp>
        <p:nvSpPr>
          <p:cNvPr id="11" name="03">
            <a:extLst>
              <a:ext uri="{FF2B5EF4-FFF2-40B4-BE49-F238E27FC236}">
                <a16:creationId xmlns:a16="http://schemas.microsoft.com/office/drawing/2014/main" id="{CB80687B-2DF8-4DA4-9CDA-AB27594828FB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76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Search alternative inputs">
            <a:extLst>
              <a:ext uri="{FF2B5EF4-FFF2-40B4-BE49-F238E27FC236}">
                <a16:creationId xmlns:a16="http://schemas.microsoft.com/office/drawing/2014/main" id="{16382438-6E13-41BF-BAD1-97E45A5CF10A}"/>
              </a:ext>
            </a:extLst>
          </p:cNvPr>
          <p:cNvSpPr>
            <a:spLocks noGrp="1"/>
          </p:cNvSpPr>
          <p:nvPr/>
        </p:nvSpPr>
        <p:spPr>
          <a:xfrm>
            <a:off x="1638300" y="5191125"/>
            <a:ext cx="52387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Search alternative inputs</a:t>
            </a:r>
          </a:p>
        </p:txBody>
      </p:sp>
      <p:sp>
        <p:nvSpPr>
          <p:cNvPr id="13" name="Shift the brake point by 5–30 m.&#10;Simulate 10 ">
            <a:extLst>
              <a:ext uri="{FF2B5EF4-FFF2-40B4-BE49-F238E27FC236}">
                <a16:creationId xmlns:a16="http://schemas.microsoft.com/office/drawing/2014/main" id="{F9B2B581-A9AF-4F35-9399-2483B9ABC029}"/>
              </a:ext>
            </a:extLst>
          </p:cNvPr>
          <p:cNvSpPr>
            <a:spLocks noGrp="1"/>
          </p:cNvSpPr>
          <p:nvPr/>
        </p:nvSpPr>
        <p:spPr>
          <a:xfrm>
            <a:off x="1638300" y="5886450"/>
            <a:ext cx="5238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Shift the brake point by 5–30 m.</a:t>
            </a:r>
          </a:p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Simulate 10 candidates and the baseline.</a:t>
            </a:r>
          </a:p>
        </p:txBody>
      </p:sp>
      <p:sp>
        <p:nvSpPr>
          <p:cNvPr id="14" name="04">
            <a:extLst>
              <a:ext uri="{FF2B5EF4-FFF2-40B4-BE49-F238E27FC236}">
                <a16:creationId xmlns:a16="http://schemas.microsoft.com/office/drawing/2014/main" id="{5A2759C8-72BF-4C79-8C9C-673632026889}"/>
              </a:ext>
            </a:extLst>
          </p:cNvPr>
          <p:cNvSpPr>
            <a:spLocks noGrp="1"/>
          </p:cNvSpPr>
          <p:nvPr/>
        </p:nvSpPr>
        <p:spPr>
          <a:xfrm>
            <a:off x="7448550" y="5191125"/>
            <a:ext cx="76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Show verified advice">
            <a:extLst>
              <a:ext uri="{FF2B5EF4-FFF2-40B4-BE49-F238E27FC236}">
                <a16:creationId xmlns:a16="http://schemas.microsoft.com/office/drawing/2014/main" id="{126B9FA6-1F70-4C4B-A76C-4E5278FAECDC}"/>
              </a:ext>
            </a:extLst>
          </p:cNvPr>
          <p:cNvSpPr>
            <a:spLocks noGrp="1"/>
          </p:cNvSpPr>
          <p:nvPr/>
        </p:nvSpPr>
        <p:spPr>
          <a:xfrm>
            <a:off x="8401050" y="5191125"/>
            <a:ext cx="52387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Show verified advice</a:t>
            </a:r>
          </a:p>
        </p:txBody>
      </p:sp>
      <p:sp>
        <p:nvSpPr>
          <p:cNvPr id="16" name="Keep fixes that improve the simulation.&#10;Compa">
            <a:extLst>
              <a:ext uri="{FF2B5EF4-FFF2-40B4-BE49-F238E27FC236}">
                <a16:creationId xmlns:a16="http://schemas.microsoft.com/office/drawing/2014/main" id="{0F9807B4-81E1-45FE-B374-3EDB99306411}"/>
              </a:ext>
            </a:extLst>
          </p:cNvPr>
          <p:cNvSpPr>
            <a:spLocks noGrp="1"/>
          </p:cNvSpPr>
          <p:nvPr/>
        </p:nvSpPr>
        <p:spPr>
          <a:xfrm>
            <a:off x="8401050" y="5886450"/>
            <a:ext cx="5238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Keep fixes that improve the simulation.</a:t>
            </a:r>
          </a:p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Compare the original and corrected run.</a:t>
            </a:r>
          </a:p>
        </p:txBody>
      </p:sp>
    </p:spTree>
    <p:extLst>
      <p:ext uri="{BB962C8B-B14F-4D97-AF65-F5344CB8AC3E}">
        <p14:creationId xmlns:p14="http://schemas.microsoft.com/office/powerpoint/2010/main" val="146678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:a16="http://schemas.microsoft.com/office/drawing/2014/main" id="{60187CB0-3E38-47B9-AE59-4121B54DF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342900"/>
            <a:ext cx="2057400" cy="600075"/>
          </a:xfrm>
          <a:prstGeom prst="rect">
            <a:avLst/>
          </a:prstGeom>
        </p:spPr>
      </p:pic>
      <p:sp>
        <p:nvSpPr>
          <p:cNvPr id="2" name="05">
            <a:extLst>
              <a:ext uri="{FF2B5EF4-FFF2-40B4-BE49-F238E27FC236}">
                <a16:creationId xmlns:a16="http://schemas.microsoft.com/office/drawing/2014/main" id="{B7D7D27F-25E7-4591-ACAD-2B960054C5D5}"/>
              </a:ext>
            </a:extLst>
          </p:cNvPr>
          <p:cNvSpPr>
            <a:spLocks noGrp="1"/>
          </p:cNvSpPr>
          <p:nvPr/>
        </p:nvSpPr>
        <p:spPr>
          <a:xfrm>
            <a:off x="12287250" y="52387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9AAC9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9AAC9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AC9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Live demo: race debrief">
            <a:extLst>
              <a:ext uri="{FF2B5EF4-FFF2-40B4-BE49-F238E27FC236}">
                <a16:creationId xmlns:a16="http://schemas.microsoft.com/office/drawing/2014/main" id="{F8C7DEBA-798B-4811-9036-CA3C838F6B92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23444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5F8F6"/>
                </a:solidFill>
                <a:latin typeface="Arial"/>
                <a:ea typeface="Arial"/>
                <a:cs typeface="Arial"/>
              </a:rPr>
              <a:t>Live demo: race debrief</a:t>
            </a:r>
          </a:p>
        </p:txBody>
      </p:sp>
      <p:sp>
        <p:nvSpPr>
          <p:cNvPr id="4" name="One race, two stages of feedback">
            <a:extLst>
              <a:ext uri="{FF2B5EF4-FFF2-40B4-BE49-F238E27FC236}">
                <a16:creationId xmlns:a16="http://schemas.microsoft.com/office/drawing/2014/main" id="{9D455767-CC78-43D7-ADFD-7FBCF730A2AA}"/>
              </a:ext>
            </a:extLst>
          </p:cNvPr>
          <p:cNvSpPr>
            <a:spLocks noGrp="1"/>
          </p:cNvSpPr>
          <p:nvPr/>
        </p:nvSpPr>
        <p:spPr>
          <a:xfrm>
            <a:off x="685800" y="2105025"/>
            <a:ext cx="12344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FBFB4"/>
                </a:solidFill>
                <a:latin typeface="Arial"/>
                <a:ea typeface="Arial"/>
                <a:cs typeface="Arial"/>
              </a:rPr>
              <a:t>One race, two stages of feedback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8E15D17-24D8-4650-B097-5B94B40E9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04743" y="3009900"/>
            <a:ext cx="5562988" cy="4095750"/>
          </a:xfrm>
          <a:prstGeom prst="rect">
            <a:avLst/>
          </a:prstGeom>
        </p:spPr>
      </p:pic>
      <p:sp>
        <p:nvSpPr>
          <p:cNvPr id="6" name="S01 Dock Loop • actual in-game track">
            <a:extLst>
              <a:ext uri="{FF2B5EF4-FFF2-40B4-BE49-F238E27FC236}">
                <a16:creationId xmlns:a16="http://schemas.microsoft.com/office/drawing/2014/main" id="{E873179E-9F54-4B2F-8649-7B760E46EF2C}"/>
              </a:ext>
            </a:extLst>
          </p:cNvPr>
          <p:cNvSpPr>
            <a:spLocks noGrp="1"/>
          </p:cNvSpPr>
          <p:nvPr/>
        </p:nvSpPr>
        <p:spPr>
          <a:xfrm>
            <a:off x="685800" y="7181850"/>
            <a:ext cx="7000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FBFB4"/>
                </a:solidFill>
                <a:latin typeface="Arial"/>
                <a:ea typeface="Arial"/>
                <a:cs typeface="Arial"/>
              </a:rPr>
              <a:t>S01 Dock Loop • actual in-game track</a:t>
            </a:r>
          </a:p>
        </p:txBody>
      </p:sp>
      <p:sp>
        <p:nvSpPr>
          <p:cNvPr id="7" name="≈5 s">
            <a:extLst>
              <a:ext uri="{FF2B5EF4-FFF2-40B4-BE49-F238E27FC236}">
                <a16:creationId xmlns:a16="http://schemas.microsoft.com/office/drawing/2014/main" id="{B7367827-712E-4069-A55B-E13B6CB0ADF4}"/>
              </a:ext>
            </a:extLst>
          </p:cNvPr>
          <p:cNvSpPr>
            <a:spLocks noGrp="1"/>
          </p:cNvSpPr>
          <p:nvPr/>
        </p:nvSpPr>
        <p:spPr>
          <a:xfrm>
            <a:off x="8191500" y="2990850"/>
            <a:ext cx="45720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800" b="1">
                <a:solidFill>
                  <a:srgbClr val="4AD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800" b="1">
                <a:solidFill>
                  <a:srgbClr val="4ADE8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4ADE80"/>
                </a:solidFill>
                <a:latin typeface="Arial"/>
                <a:ea typeface="Arial"/>
                <a:cs typeface="Arial"/>
              </a:rPr>
              <a:t>≈5 s</a:t>
            </a:r>
          </a:p>
        </p:txBody>
      </p:sp>
      <p:sp>
        <p:nvSpPr>
          <p:cNvPr id="8" name="Initial overview">
            <a:extLst>
              <a:ext uri="{FF2B5EF4-FFF2-40B4-BE49-F238E27FC236}">
                <a16:creationId xmlns:a16="http://schemas.microsoft.com/office/drawing/2014/main" id="{780FD278-D72B-4ACF-9D3D-506FE568C24A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4572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8F6"/>
                </a:solidFill>
                <a:latin typeface="Arial"/>
                <a:ea typeface="Arial"/>
                <a:cs typeface="Arial"/>
              </a:rPr>
              <a:t>Initial overview</a:t>
            </a:r>
          </a:p>
        </p:txBody>
      </p:sp>
      <p:sp>
        <p:nvSpPr>
          <p:cNvPr id="9" name="Race statistics with feedback marked&#10;as unver">
            <a:extLst>
              <a:ext uri="{FF2B5EF4-FFF2-40B4-BE49-F238E27FC236}">
                <a16:creationId xmlns:a16="http://schemas.microsoft.com/office/drawing/2014/main" id="{7BEB92AD-17C6-42C0-8682-8549B7FDD46D}"/>
              </a:ext>
            </a:extLst>
          </p:cNvPr>
          <p:cNvSpPr>
            <a:spLocks noGrp="1"/>
          </p:cNvSpPr>
          <p:nvPr/>
        </p:nvSpPr>
        <p:spPr>
          <a:xfrm>
            <a:off x="8191500" y="4267200"/>
            <a:ext cx="47148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FBFB4"/>
                </a:solidFill>
                <a:latin typeface="Arial"/>
                <a:ea typeface="Arial"/>
                <a:cs typeface="Arial"/>
              </a:rPr>
              <a:t>Race statistics with feedback marked</a:t>
            </a:r>
          </a:p>
          <a:p>
            <a:pPr algn="l">
              <a:defRPr sz="2025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FBFB4"/>
                </a:solidFill>
                <a:latin typeface="Arial"/>
                <a:ea typeface="Arial"/>
                <a:cs typeface="Arial"/>
              </a:rPr>
              <a:t>as unverified.</a:t>
            </a:r>
          </a:p>
        </p:txBody>
      </p:sp>
      <p:sp>
        <p:nvSpPr>
          <p:cNvPr id="10" name="≈90–200 s">
            <a:extLst>
              <a:ext uri="{FF2B5EF4-FFF2-40B4-BE49-F238E27FC236}">
                <a16:creationId xmlns:a16="http://schemas.microsoft.com/office/drawing/2014/main" id="{D68C6579-1703-4571-A2F9-D316499E4E1A}"/>
              </a:ext>
            </a:extLst>
          </p:cNvPr>
          <p:cNvSpPr>
            <a:spLocks noGrp="1"/>
          </p:cNvSpPr>
          <p:nvPr/>
        </p:nvSpPr>
        <p:spPr>
          <a:xfrm>
            <a:off x="8191500" y="5324475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200" b="1">
                <a:solidFill>
                  <a:srgbClr val="4AD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200" b="1">
                <a:solidFill>
                  <a:srgbClr val="4ADE8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4ADE80"/>
                </a:solidFill>
                <a:latin typeface="Arial"/>
                <a:ea typeface="Arial"/>
                <a:cs typeface="Arial"/>
              </a:rPr>
              <a:t>≈90–200 s</a:t>
            </a:r>
          </a:p>
        </p:txBody>
      </p:sp>
      <p:sp>
        <p:nvSpPr>
          <p:cNvPr id="11" name="Replay analysis and proof">
            <a:extLst>
              <a:ext uri="{FF2B5EF4-FFF2-40B4-BE49-F238E27FC236}">
                <a16:creationId xmlns:a16="http://schemas.microsoft.com/office/drawing/2014/main" id="{7A13ACE7-502A-4716-875F-E32686DF1C45}"/>
              </a:ext>
            </a:extLst>
          </p:cNvPr>
          <p:cNvSpPr>
            <a:spLocks noGrp="1"/>
          </p:cNvSpPr>
          <p:nvPr/>
        </p:nvSpPr>
        <p:spPr>
          <a:xfrm>
            <a:off x="8191500" y="61150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8F6"/>
                </a:solidFill>
                <a:latin typeface="Arial"/>
                <a:ea typeface="Arial"/>
                <a:cs typeface="Arial"/>
              </a:rPr>
              <a:t>Replay analysis and proof</a:t>
            </a:r>
          </a:p>
        </p:txBody>
      </p:sp>
      <p:sp>
        <p:nvSpPr>
          <p:cNvPr id="12" name="Skill profile, time-loss map and&#10;original vs ">
            <a:extLst>
              <a:ext uri="{FF2B5EF4-FFF2-40B4-BE49-F238E27FC236}">
                <a16:creationId xmlns:a16="http://schemas.microsoft.com/office/drawing/2014/main" id="{1E5A9484-4649-4B3D-AB6E-55AC9A6D24D8}"/>
              </a:ext>
            </a:extLst>
          </p:cNvPr>
          <p:cNvSpPr>
            <a:spLocks noGrp="1"/>
          </p:cNvSpPr>
          <p:nvPr/>
        </p:nvSpPr>
        <p:spPr>
          <a:xfrm>
            <a:off x="8191500" y="6648450"/>
            <a:ext cx="4762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FBFB4"/>
                </a:solidFill>
                <a:latin typeface="Arial"/>
                <a:ea typeface="Arial"/>
                <a:cs typeface="Arial"/>
              </a:rPr>
              <a:t>Skill profile, time-loss map and</a:t>
            </a:r>
          </a:p>
          <a:p>
            <a:pPr algn="l">
              <a:defRPr sz="19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FBFB4"/>
                </a:solidFill>
                <a:latin typeface="Arial"/>
                <a:ea typeface="Arial"/>
                <a:cs typeface="Arial"/>
              </a:rPr>
              <a:t>original vs corrected replay.</a:t>
            </a:r>
          </a:p>
        </p:txBody>
      </p:sp>
    </p:spTree>
    <p:extLst>
      <p:ext uri="{BB962C8B-B14F-4D97-AF65-F5344CB8AC3E}">
        <p14:creationId xmlns:p14="http://schemas.microsoft.com/office/powerpoint/2010/main" val="1108399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>
            <a:extLst>
              <a:ext uri="{FF2B5EF4-FFF2-40B4-BE49-F238E27FC236}">
                <a16:creationId xmlns:a16="http://schemas.microsoft.com/office/drawing/2014/main" id="{9222F081-9E45-48AD-89C9-19364B7A6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342900"/>
            <a:ext cx="2057400" cy="600075"/>
          </a:xfrm>
          <a:prstGeom prst="rect">
            <a:avLst/>
          </a:prstGeom>
        </p:spPr>
      </p:pic>
      <p:sp>
        <p:nvSpPr>
          <p:cNvPr id="2" name="06">
            <a:extLst>
              <a:ext uri="{FF2B5EF4-FFF2-40B4-BE49-F238E27FC236}">
                <a16:creationId xmlns:a16="http://schemas.microsoft.com/office/drawing/2014/main" id="{9B709863-981A-43A2-963F-EB8E1054CC8E}"/>
              </a:ext>
            </a:extLst>
          </p:cNvPr>
          <p:cNvSpPr>
            <a:spLocks noGrp="1"/>
          </p:cNvSpPr>
          <p:nvPr/>
        </p:nvSpPr>
        <p:spPr>
          <a:xfrm>
            <a:off x="12287250" y="52387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hree coaches, the same 14 races">
            <a:extLst>
              <a:ext uri="{FF2B5EF4-FFF2-40B4-BE49-F238E27FC236}">
                <a16:creationId xmlns:a16="http://schemas.microsoft.com/office/drawing/2014/main" id="{B98B86DD-EAA1-4560-836E-12D80491DF24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23444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Three coaches, the same 14 races</a:t>
            </a:r>
          </a:p>
        </p:txBody>
      </p:sp>
      <p:sp>
        <p:nvSpPr>
          <p:cNvPr id="4" name="Every recommendation was tested by re-simulat">
            <a:extLst>
              <a:ext uri="{FF2B5EF4-FFF2-40B4-BE49-F238E27FC236}">
                <a16:creationId xmlns:a16="http://schemas.microsoft.com/office/drawing/2014/main" id="{22BEB13F-97DF-4159-8071-E3021858790D}"/>
              </a:ext>
            </a:extLst>
          </p:cNvPr>
          <p:cNvSpPr>
            <a:spLocks noGrp="1"/>
          </p:cNvSpPr>
          <p:nvPr/>
        </p:nvSpPr>
        <p:spPr>
          <a:xfrm>
            <a:off x="685800" y="2105025"/>
            <a:ext cx="12344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Every recommendation was tested by re-simulating the race.</a:t>
            </a: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057CDE4F-9240-4E82-BAF8-9155D8F5F251}"/>
              </a:ext>
            </a:extLst>
          </p:cNvPr>
          <p:cNvGraphicFramePr/>
          <p:nvPr/>
        </p:nvGraphicFramePr>
        <p:xfrm>
          <a:off x="685800" y="2952750"/>
          <a:ext cx="12344400" cy="3524252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1063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5F8F6"/>
                          </a:solidFill>
                          <a:latin typeface="Arial"/>
                          <a:ea typeface="Arial"/>
                          <a:cs typeface="Arial"/>
                        </a:rPr>
                        <a:t>Coach</a:t>
                      </a:r>
                    </a:p>
                  </a:txBody>
                  <a:tcPr marL="190500" marR="190500" marT="95250" marB="95250" anchor="ctr"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5F8F6"/>
                          </a:solidFill>
                          <a:latin typeface="Arial"/>
                          <a:ea typeface="Arial"/>
                          <a:cs typeface="Arial"/>
                        </a:rPr>
                        <a:t>Advice tested</a:t>
                      </a:r>
                    </a:p>
                  </a:txBody>
                  <a:tcPr marL="190500" marR="190500" marT="95250" marB="95250" anchor="ctr"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5F8F6"/>
                          </a:solidFill>
                          <a:latin typeface="Arial"/>
                          <a:ea typeface="Arial"/>
                          <a:cs typeface="Arial"/>
                        </a:rPr>
                        <a:t>Works</a:t>
                      </a:r>
                    </a:p>
                  </a:txBody>
                  <a:tcPr marL="190500" marR="190500" marT="95250" marB="95250" anchor="ctr"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5F8F6"/>
                          </a:solidFill>
                          <a:latin typeface="Arial"/>
                          <a:ea typeface="Arial"/>
                          <a:cs typeface="Arial"/>
                        </a:rPr>
                        <a:t>Worse / crash</a:t>
                      </a:r>
                    </a:p>
                  </a:txBody>
                  <a:tcPr marL="190500" marR="190500" marT="95250" marB="95250" anchor="ctr"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5F8F6"/>
                          </a:solidFill>
                          <a:latin typeface="Arial"/>
                          <a:ea typeface="Arial"/>
                          <a:cs typeface="Arial"/>
                        </a:rPr>
                        <a:t>Mean gain</a:t>
                      </a:r>
                    </a:p>
                  </a:txBody>
                  <a:tcPr marL="190500" marR="190500" marT="95250" marB="95250" anchor="ctr">
                    <a:solidFill>
                      <a:srgbClr val="0C19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1063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Classic statistics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37.5%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59%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0.31 s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063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LLM coach</a:t>
                      </a:r>
                    </a:p>
                    <a:p>
                      <a:r>
                        <a:rPr sz="21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GPT-5-mini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76.5%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21%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0.63 s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063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87F53"/>
                          </a:solidFill>
                          <a:latin typeface="Arial"/>
                          <a:ea typeface="Arial"/>
                          <a:cs typeface="Arial"/>
                        </a:rPr>
                        <a:t>ProofPlay</a:t>
                      </a:r>
                    </a:p>
                  </a:txBody>
                  <a:tcPr marL="190500" marR="190500" marT="95250" marB="95250" anchor="ctr">
                    <a:solidFill>
                      <a:srgbClr val="E4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87F53"/>
                          </a:solidFill>
                          <a:latin typeface="Arial"/>
                          <a:ea typeface="Arial"/>
                          <a:cs typeface="Arial"/>
                        </a:rPr>
                        <a:t>31</a:t>
                      </a:r>
                    </a:p>
                  </a:txBody>
                  <a:tcPr marL="190500" marR="190500" marT="95250" marB="95250" anchor="ctr">
                    <a:solidFill>
                      <a:srgbClr val="E4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87F53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90500" marR="190500" marT="95250" marB="95250" anchor="ctr">
                    <a:solidFill>
                      <a:srgbClr val="E4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87F53"/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</a:p>
                  </a:txBody>
                  <a:tcPr marL="190500" marR="190500" marT="95250" marB="95250" anchor="ctr">
                    <a:solidFill>
                      <a:srgbClr val="E4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87F53"/>
                          </a:solidFill>
                          <a:latin typeface="Arial"/>
                          <a:ea typeface="Arial"/>
                          <a:cs typeface="Arial"/>
                        </a:rPr>
                        <a:t>1.05 s</a:t>
                      </a:r>
                    </a:p>
                  </a:txBody>
                  <a:tcPr marL="190500" marR="190500" marT="95250" marB="95250" anchor="ctr">
                    <a:solidFill>
                      <a:srgbClr val="E4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100% refers to the 31 recommendations ProofPl">
            <a:extLst>
              <a:ext uri="{FF2B5EF4-FFF2-40B4-BE49-F238E27FC236}">
                <a16:creationId xmlns:a16="http://schemas.microsoft.com/office/drawing/2014/main" id="{071C2F95-8CE7-4E88-AA3F-ED781BB80FF0}"/>
              </a:ext>
            </a:extLst>
          </p:cNvPr>
          <p:cNvSpPr>
            <a:spLocks noGrp="1"/>
          </p:cNvSpPr>
          <p:nvPr/>
        </p:nvSpPr>
        <p:spPr>
          <a:xfrm>
            <a:off x="685800" y="6762750"/>
            <a:ext cx="12344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100% refers to the 31 recommendations ProofPlay selected after verification.</a:t>
            </a:r>
          </a:p>
        </p:txBody>
      </p:sp>
      <p:sp>
        <p:nvSpPr>
          <p:cNvPr id="7" name="This controlled test includes planted faults.">
            <a:extLst>
              <a:ext uri="{FF2B5EF4-FFF2-40B4-BE49-F238E27FC236}">
                <a16:creationId xmlns:a16="http://schemas.microsoft.com/office/drawing/2014/main" id="{DDCCA4CF-B3BF-452A-958C-8E77ECA6E5C7}"/>
              </a:ext>
            </a:extLst>
          </p:cNvPr>
          <p:cNvSpPr>
            <a:spLocks noGrp="1"/>
          </p:cNvSpPr>
          <p:nvPr/>
        </p:nvSpPr>
        <p:spPr>
          <a:xfrm>
            <a:off x="685800" y="7239000"/>
            <a:ext cx="12344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This controlled test includes planted faults. It does not establish a 100% success rate for human players.</a:t>
            </a:r>
          </a:p>
        </p:txBody>
      </p:sp>
    </p:spTree>
    <p:extLst>
      <p:ext uri="{BB962C8B-B14F-4D97-AF65-F5344CB8AC3E}">
        <p14:creationId xmlns:p14="http://schemas.microsoft.com/office/powerpoint/2010/main" val="106657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Resim 13">
            <a:extLst>
              <a:ext uri="{FF2B5EF4-FFF2-40B4-BE49-F238E27FC236}">
                <a16:creationId xmlns:a16="http://schemas.microsoft.com/office/drawing/2014/main" id="{7673B857-7793-456B-BC08-5E856D023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342900"/>
            <a:ext cx="2057400" cy="600075"/>
          </a:xfrm>
          <a:prstGeom prst="rect">
            <a:avLst/>
          </a:prstGeom>
        </p:spPr>
      </p:pic>
      <p:sp>
        <p:nvSpPr>
          <p:cNvPr id="2" name="07">
            <a:extLst>
              <a:ext uri="{FF2B5EF4-FFF2-40B4-BE49-F238E27FC236}">
                <a16:creationId xmlns:a16="http://schemas.microsoft.com/office/drawing/2014/main" id="{42800F81-7E85-4844-92D1-4B50914E8694}"/>
              </a:ext>
            </a:extLst>
          </p:cNvPr>
          <p:cNvSpPr>
            <a:spLocks noGrp="1"/>
          </p:cNvSpPr>
          <p:nvPr/>
        </p:nvSpPr>
        <p:spPr>
          <a:xfrm>
            <a:off x="12287250" y="52387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Evidence behind the prototype">
            <a:extLst>
              <a:ext uri="{FF2B5EF4-FFF2-40B4-BE49-F238E27FC236}">
                <a16:creationId xmlns:a16="http://schemas.microsoft.com/office/drawing/2014/main" id="{AA4A7270-CADE-4E28-816C-8B4BE5E7156E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23444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behind the prototype</a:t>
            </a:r>
          </a:p>
        </p:txBody>
      </p:sp>
      <p:sp>
        <p:nvSpPr>
          <p:cNvPr id="4" name="Replay verification checks whether the record">
            <a:extLst>
              <a:ext uri="{FF2B5EF4-FFF2-40B4-BE49-F238E27FC236}">
                <a16:creationId xmlns:a16="http://schemas.microsoft.com/office/drawing/2014/main" id="{AC03C185-43C2-4E36-952C-F8F0077DB0EB}"/>
              </a:ext>
            </a:extLst>
          </p:cNvPr>
          <p:cNvSpPr>
            <a:spLocks noGrp="1"/>
          </p:cNvSpPr>
          <p:nvPr/>
        </p:nvSpPr>
        <p:spPr>
          <a:xfrm>
            <a:off x="685800" y="2105025"/>
            <a:ext cx="12344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Replay verification checks whether the recorded inputs really produce the claimed result.</a:t>
            </a:r>
          </a:p>
        </p:txBody>
      </p:sp>
      <p:sp>
        <p:nvSpPr>
          <p:cNvPr id="5" name="22,627">
            <a:extLst>
              <a:ext uri="{FF2B5EF4-FFF2-40B4-BE49-F238E27FC236}">
                <a16:creationId xmlns:a16="http://schemas.microsoft.com/office/drawing/2014/main" id="{AB3B9CFC-3631-4C28-BA63-5898BB9CA445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39338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4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54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22,627</a:t>
            </a:r>
          </a:p>
        </p:txBody>
      </p:sp>
      <p:sp>
        <p:nvSpPr>
          <p:cNvPr id="6" name="simulation steps">
            <a:extLst>
              <a:ext uri="{FF2B5EF4-FFF2-40B4-BE49-F238E27FC236}">
                <a16:creationId xmlns:a16="http://schemas.microsoft.com/office/drawing/2014/main" id="{B326AE70-431B-4BEB-A5B0-31767B3DB3C3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3933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simulation steps</a:t>
            </a:r>
          </a:p>
        </p:txBody>
      </p:sp>
      <p:sp>
        <p:nvSpPr>
          <p:cNvPr id="7" name="A real three-lap keyboard race&#10;replayed bit f">
            <a:extLst>
              <a:ext uri="{FF2B5EF4-FFF2-40B4-BE49-F238E27FC236}">
                <a16:creationId xmlns:a16="http://schemas.microsoft.com/office/drawing/2014/main" id="{02A72F8F-A984-41EB-B3DC-6DF4109C54A4}"/>
              </a:ext>
            </a:extLst>
          </p:cNvPr>
          <p:cNvSpPr>
            <a:spLocks noGrp="1"/>
          </p:cNvSpPr>
          <p:nvPr/>
        </p:nvSpPr>
        <p:spPr>
          <a:xfrm>
            <a:off x="685800" y="5419725"/>
            <a:ext cx="3933825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A real three-lap keyboard race</a:t>
            </a:r>
          </a:p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replayed bit for bit.</a:t>
            </a:r>
          </a:p>
        </p:txBody>
      </p:sp>
      <p:sp>
        <p:nvSpPr>
          <p:cNvPr id="8" name="10 / 10">
            <a:extLst>
              <a:ext uri="{FF2B5EF4-FFF2-40B4-BE49-F238E27FC236}">
                <a16:creationId xmlns:a16="http://schemas.microsoft.com/office/drawing/2014/main" id="{6906F3D3-7F56-44FA-9DF7-BE58E6D42A09}"/>
              </a:ext>
            </a:extLst>
          </p:cNvPr>
          <p:cNvSpPr>
            <a:spLocks noGrp="1"/>
          </p:cNvSpPr>
          <p:nvPr/>
        </p:nvSpPr>
        <p:spPr>
          <a:xfrm>
            <a:off x="4943475" y="3219450"/>
            <a:ext cx="39338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4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54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9" name="tampered runs rejected">
            <a:extLst>
              <a:ext uri="{FF2B5EF4-FFF2-40B4-BE49-F238E27FC236}">
                <a16:creationId xmlns:a16="http://schemas.microsoft.com/office/drawing/2014/main" id="{4856EA6A-1BDD-4699-8052-31BCDBC67FEC}"/>
              </a:ext>
            </a:extLst>
          </p:cNvPr>
          <p:cNvSpPr>
            <a:spLocks noGrp="1"/>
          </p:cNvSpPr>
          <p:nvPr/>
        </p:nvSpPr>
        <p:spPr>
          <a:xfrm>
            <a:off x="4943475" y="4362450"/>
            <a:ext cx="3933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tampered runs rejected</a:t>
            </a:r>
          </a:p>
        </p:txBody>
      </p:sp>
      <p:sp>
        <p:nvSpPr>
          <p:cNvPr id="10" name="False time, position, inputs or setup.&#10;The or">
            <a:extLst>
              <a:ext uri="{FF2B5EF4-FFF2-40B4-BE49-F238E27FC236}">
                <a16:creationId xmlns:a16="http://schemas.microsoft.com/office/drawing/2014/main" id="{1B5C3E98-C682-4951-B6DF-641CE70B12EF}"/>
              </a:ext>
            </a:extLst>
          </p:cNvPr>
          <p:cNvSpPr>
            <a:spLocks noGrp="1"/>
          </p:cNvSpPr>
          <p:nvPr/>
        </p:nvSpPr>
        <p:spPr>
          <a:xfrm>
            <a:off x="4943475" y="5419725"/>
            <a:ext cx="3933825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False time, position, inputs or setup.</a:t>
            </a:r>
          </a:p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The original run was accepted.</a:t>
            </a:r>
          </a:p>
        </p:txBody>
      </p:sp>
      <p:sp>
        <p:nvSpPr>
          <p:cNvPr id="11" name="12 / 12">
            <a:extLst>
              <a:ext uri="{FF2B5EF4-FFF2-40B4-BE49-F238E27FC236}">
                <a16:creationId xmlns:a16="http://schemas.microsoft.com/office/drawing/2014/main" id="{A9F1C44C-1C51-4FE7-A5B1-C5D3DC6AE0E8}"/>
              </a:ext>
            </a:extLst>
          </p:cNvPr>
          <p:cNvSpPr>
            <a:spLocks noGrp="1"/>
          </p:cNvSpPr>
          <p:nvPr/>
        </p:nvSpPr>
        <p:spPr>
          <a:xfrm>
            <a:off x="9201150" y="3219450"/>
            <a:ext cx="39338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4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54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12" name="race statistics matched">
            <a:extLst>
              <a:ext uri="{FF2B5EF4-FFF2-40B4-BE49-F238E27FC236}">
                <a16:creationId xmlns:a16="http://schemas.microsoft.com/office/drawing/2014/main" id="{0F17754A-C4FE-4F86-91F4-EBA788922D78}"/>
              </a:ext>
            </a:extLst>
          </p:cNvPr>
          <p:cNvSpPr>
            <a:spLocks noGrp="1"/>
          </p:cNvSpPr>
          <p:nvPr/>
        </p:nvSpPr>
        <p:spPr>
          <a:xfrm>
            <a:off x="9201150" y="4362450"/>
            <a:ext cx="3933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race statistics matched</a:t>
            </a:r>
          </a:p>
        </p:txBody>
      </p:sp>
      <p:sp>
        <p:nvSpPr>
          <p:cNvPr id="13" name="Two races, six fields each, checked&#10;against t">
            <a:extLst>
              <a:ext uri="{FF2B5EF4-FFF2-40B4-BE49-F238E27FC236}">
                <a16:creationId xmlns:a16="http://schemas.microsoft.com/office/drawing/2014/main" id="{DC2585DC-3E1A-492F-8020-BD891B7EC9DF}"/>
              </a:ext>
            </a:extLst>
          </p:cNvPr>
          <p:cNvSpPr>
            <a:spLocks noGrp="1"/>
          </p:cNvSpPr>
          <p:nvPr/>
        </p:nvSpPr>
        <p:spPr>
          <a:xfrm>
            <a:off x="9201150" y="5419725"/>
            <a:ext cx="3933825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Two races, six fields each, checked</a:t>
            </a:r>
          </a:p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against the game’s result screen.</a:t>
            </a:r>
          </a:p>
        </p:txBody>
      </p:sp>
    </p:spTree>
    <p:extLst>
      <p:ext uri="{BB962C8B-B14F-4D97-AF65-F5344CB8AC3E}">
        <p14:creationId xmlns:p14="http://schemas.microsoft.com/office/powerpoint/2010/main" val="965239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Resim 10">
            <a:extLst>
              <a:ext uri="{FF2B5EF4-FFF2-40B4-BE49-F238E27FC236}">
                <a16:creationId xmlns:a16="http://schemas.microsoft.com/office/drawing/2014/main" id="{9D2DA8C9-F30D-46A9-AE3D-153C96B8E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342900"/>
            <a:ext cx="2057400" cy="600075"/>
          </a:xfrm>
          <a:prstGeom prst="rect">
            <a:avLst/>
          </a:prstGeom>
        </p:spPr>
      </p:pic>
      <p:sp>
        <p:nvSpPr>
          <p:cNvPr id="2" name="08">
            <a:extLst>
              <a:ext uri="{FF2B5EF4-FFF2-40B4-BE49-F238E27FC236}">
                <a16:creationId xmlns:a16="http://schemas.microsoft.com/office/drawing/2014/main" id="{13D281B4-1C92-48AE-A460-982A12A89F73}"/>
              </a:ext>
            </a:extLst>
          </p:cNvPr>
          <p:cNvSpPr>
            <a:spLocks noGrp="1"/>
          </p:cNvSpPr>
          <p:nvPr/>
        </p:nvSpPr>
        <p:spPr>
          <a:xfrm>
            <a:off x="12287250" y="52387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What the prototype cannot prove yet">
            <a:extLst>
              <a:ext uri="{FF2B5EF4-FFF2-40B4-BE49-F238E27FC236}">
                <a16:creationId xmlns:a16="http://schemas.microsoft.com/office/drawing/2014/main" id="{F1B77B7A-9DA3-4ACC-A65C-17BCF2F21FBF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23444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the prototype cannot prove yet</a:t>
            </a:r>
          </a:p>
        </p:txBody>
      </p:sp>
      <p:sp>
        <p:nvSpPr>
          <p:cNvPr id="4" name="The system reports uncertainty when it cannot">
            <a:extLst>
              <a:ext uri="{FF2B5EF4-FFF2-40B4-BE49-F238E27FC236}">
                <a16:creationId xmlns:a16="http://schemas.microsoft.com/office/drawing/2014/main" id="{9771F57C-1028-420C-A1A4-D87F2AEB3078}"/>
              </a:ext>
            </a:extLst>
          </p:cNvPr>
          <p:cNvSpPr>
            <a:spLocks noGrp="1"/>
          </p:cNvSpPr>
          <p:nvPr/>
        </p:nvSpPr>
        <p:spPr>
          <a:xfrm>
            <a:off x="685800" y="2105025"/>
            <a:ext cx="12344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The system reports uncertainty when it cannot find a verified fix.</a:t>
            </a:r>
          </a:p>
        </p:txBody>
      </p:sp>
      <p:sp>
        <p:nvSpPr>
          <p:cNvPr id="5" name="Human learning">
            <a:extLst>
              <a:ext uri="{FF2B5EF4-FFF2-40B4-BE49-F238E27FC236}">
                <a16:creationId xmlns:a16="http://schemas.microsoft.com/office/drawing/2014/main" id="{06A4D597-DB17-4BB3-940F-7B680DE806A9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3905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25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Human learning</a:t>
            </a:r>
          </a:p>
        </p:txBody>
      </p:sp>
      <p:sp>
        <p:nvSpPr>
          <p:cNvPr id="6" name="A verified simulation gain is not a measured ">
            <a:extLst>
              <a:ext uri="{FF2B5EF4-FFF2-40B4-BE49-F238E27FC236}">
                <a16:creationId xmlns:a16="http://schemas.microsoft.com/office/drawing/2014/main" id="{5918ADDE-32C8-4C00-9278-52B5A71A25AC}"/>
              </a:ext>
            </a:extLst>
          </p:cNvPr>
          <p:cNvSpPr>
            <a:spLocks noGrp="1"/>
          </p:cNvSpPr>
          <p:nvPr/>
        </p:nvSpPr>
        <p:spPr>
          <a:xfrm>
            <a:off x="4857750" y="3076575"/>
            <a:ext cx="8096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verified simulation gain is not a measured human improvement.</a:t>
            </a:r>
          </a:p>
          <a:p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real player test produced no verified corner fix.</a:t>
            </a:r>
          </a:p>
        </p:txBody>
      </p:sp>
      <p:sp>
        <p:nvSpPr>
          <p:cNvPr id="7" name="Bot-generated inputs">
            <a:extLst>
              <a:ext uri="{FF2B5EF4-FFF2-40B4-BE49-F238E27FC236}">
                <a16:creationId xmlns:a16="http://schemas.microsoft.com/office/drawing/2014/main" id="{58CC662E-1748-40E1-BBC2-D8CC9B3802EE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3905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25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Bot-generated inputs</a:t>
            </a:r>
          </a:p>
        </p:txBody>
      </p:sp>
      <p:sp>
        <p:nvSpPr>
          <p:cNvPr id="8" name="Replay proves the result, not who drove.&#10;One ">
            <a:extLst>
              <a:ext uri="{FF2B5EF4-FFF2-40B4-BE49-F238E27FC236}">
                <a16:creationId xmlns:a16="http://schemas.microsoft.com/office/drawing/2014/main" id="{F6A42CE2-2EB2-4BB6-83DA-8B01086137A3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8096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Replay proves the result, not who drove.</a:t>
            </a:r>
          </a:p>
          <a:p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keyboard sample is insufficient for an anti-cheat threshold.</a:t>
            </a:r>
          </a:p>
        </p:txBody>
      </p:sp>
      <p:sp>
        <p:nvSpPr>
          <p:cNvPr id="9" name="Coverage and latency">
            <a:extLst>
              <a:ext uri="{FF2B5EF4-FFF2-40B4-BE49-F238E27FC236}">
                <a16:creationId xmlns:a16="http://schemas.microsoft.com/office/drawing/2014/main" id="{739692B6-064B-4EA3-9E29-EDB7950225CD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3905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25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Coverage and latency</a:t>
            </a:r>
          </a:p>
        </p:txBody>
      </p:sp>
      <p:sp>
        <p:nvSpPr>
          <p:cNvPr id="10" name="Today the integration supports our racing gam">
            <a:extLst>
              <a:ext uri="{FF2B5EF4-FFF2-40B4-BE49-F238E27FC236}">
                <a16:creationId xmlns:a16="http://schemas.microsoft.com/office/drawing/2014/main" id="{7D46B3E4-F26B-4DF4-A8CE-6391929AA4A9}"/>
              </a:ext>
            </a:extLst>
          </p:cNvPr>
          <p:cNvSpPr>
            <a:spLocks noGrp="1"/>
          </p:cNvSpPr>
          <p:nvPr/>
        </p:nvSpPr>
        <p:spPr>
          <a:xfrm>
            <a:off x="4857750" y="5953125"/>
            <a:ext cx="8096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Today the integration supports our racing game.</a:t>
            </a:r>
          </a:p>
          <a:p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Full analysis takes about 90–200 seconds.</a:t>
            </a:r>
          </a:p>
        </p:txBody>
      </p:sp>
    </p:spTree>
    <p:extLst>
      <p:ext uri="{BB962C8B-B14F-4D97-AF65-F5344CB8AC3E}">
        <p14:creationId xmlns:p14="http://schemas.microsoft.com/office/powerpoint/2010/main" val="1022644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:a16="http://schemas.microsoft.com/office/drawing/2014/main" id="{1EAD43D4-D882-4CA4-916E-8DA54EF1F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342900"/>
            <a:ext cx="2057400" cy="600075"/>
          </a:xfrm>
          <a:prstGeom prst="rect">
            <a:avLst/>
          </a:prstGeom>
        </p:spPr>
      </p:pic>
      <p:sp>
        <p:nvSpPr>
          <p:cNvPr id="2" name="09">
            <a:extLst>
              <a:ext uri="{FF2B5EF4-FFF2-40B4-BE49-F238E27FC236}">
                <a16:creationId xmlns:a16="http://schemas.microsoft.com/office/drawing/2014/main" id="{7750AD6E-6028-4810-A3BA-FCFC5E7D2094}"/>
              </a:ext>
            </a:extLst>
          </p:cNvPr>
          <p:cNvSpPr>
            <a:spLocks noGrp="1"/>
          </p:cNvSpPr>
          <p:nvPr/>
        </p:nvSpPr>
        <p:spPr>
          <a:xfrm>
            <a:off x="12287250" y="52387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Deployment and next steps">
            <a:extLst>
              <a:ext uri="{FF2B5EF4-FFF2-40B4-BE49-F238E27FC236}">
                <a16:creationId xmlns:a16="http://schemas.microsoft.com/office/drawing/2014/main" id="{D5E4F947-385C-4E67-B006-9C55F1D5F72E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23444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Deployment and next steps</a:t>
            </a:r>
          </a:p>
        </p:txBody>
      </p:sp>
      <p:sp>
        <p:nvSpPr>
          <p:cNvPr id="4" name="The proof engine uses game telemetry and loca">
            <a:extLst>
              <a:ext uri="{FF2B5EF4-FFF2-40B4-BE49-F238E27FC236}">
                <a16:creationId xmlns:a16="http://schemas.microsoft.com/office/drawing/2014/main" id="{BF1C3805-4D5F-4FD5-B1DB-7D52E6A329A9}"/>
              </a:ext>
            </a:extLst>
          </p:cNvPr>
          <p:cNvSpPr>
            <a:spLocks noGrp="1"/>
          </p:cNvSpPr>
          <p:nvPr/>
        </p:nvSpPr>
        <p:spPr>
          <a:xfrm>
            <a:off x="685800" y="2105025"/>
            <a:ext cx="12344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The proof engine uses game telemetry and local CPU simulation.</a:t>
            </a:r>
          </a:p>
        </p:txBody>
      </p:sp>
      <p:sp>
        <p:nvSpPr>
          <p:cNvPr id="5" name="$0">
            <a:extLst>
              <a:ext uri="{FF2B5EF4-FFF2-40B4-BE49-F238E27FC236}">
                <a16:creationId xmlns:a16="http://schemas.microsoft.com/office/drawing/2014/main" id="{5B8B5E11-92E1-4529-AB0B-2AFD0C039A8A}"/>
              </a:ext>
            </a:extLst>
          </p:cNvPr>
          <p:cNvSpPr>
            <a:spLocks noGrp="1"/>
          </p:cNvSpPr>
          <p:nvPr/>
        </p:nvSpPr>
        <p:spPr>
          <a:xfrm>
            <a:off x="685800" y="3171825"/>
            <a:ext cx="3714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0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0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6" name="LLM cost for the proof engine">
            <a:extLst>
              <a:ext uri="{FF2B5EF4-FFF2-40B4-BE49-F238E27FC236}">
                <a16:creationId xmlns:a16="http://schemas.microsoft.com/office/drawing/2014/main" id="{31138759-5C27-41C6-9815-6B1874EF599E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5429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LLM cost for the proof engine</a:t>
            </a:r>
          </a:p>
        </p:txBody>
      </p:sp>
      <p:sp>
        <p:nvSpPr>
          <p:cNvPr id="7" name="39 MB">
            <a:extLst>
              <a:ext uri="{FF2B5EF4-FFF2-40B4-BE49-F238E27FC236}">
                <a16:creationId xmlns:a16="http://schemas.microsoft.com/office/drawing/2014/main" id="{1DC08FF6-508D-4EA7-B4B0-4C825FEA4E2F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5286375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4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5400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39 MB</a:t>
            </a:r>
          </a:p>
        </p:txBody>
      </p:sp>
      <p:sp>
        <p:nvSpPr>
          <p:cNvPr id="8" name="memory per process">
            <a:extLst>
              <a:ext uri="{FF2B5EF4-FFF2-40B4-BE49-F238E27FC236}">
                <a16:creationId xmlns:a16="http://schemas.microsoft.com/office/drawing/2014/main" id="{29BCD83B-9959-4E96-8A80-F3D1BC01605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52863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memory per process</a:t>
            </a:r>
          </a:p>
        </p:txBody>
      </p:sp>
      <p:sp>
        <p:nvSpPr>
          <p:cNvPr id="9" name="Next validation">
            <a:extLst>
              <a:ext uri="{FF2B5EF4-FFF2-40B4-BE49-F238E27FC236}">
                <a16:creationId xmlns:a16="http://schemas.microsoft.com/office/drawing/2014/main" id="{3006FF7E-8769-4955-9144-04A853ADB404}"/>
              </a:ext>
            </a:extLst>
          </p:cNvPr>
          <p:cNvSpPr>
            <a:spLocks noGrp="1"/>
          </p:cNvSpPr>
          <p:nvPr/>
        </p:nvSpPr>
        <p:spPr>
          <a:xfrm>
            <a:off x="7429500" y="3124200"/>
            <a:ext cx="5429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validation</a:t>
            </a:r>
          </a:p>
        </p:txBody>
      </p:sp>
      <p:sp>
        <p:nvSpPr>
          <p:cNvPr id="10" name="A paired pilot with 5–8 players.&#10;More human r">
            <a:extLst>
              <a:ext uri="{FF2B5EF4-FFF2-40B4-BE49-F238E27FC236}">
                <a16:creationId xmlns:a16="http://schemas.microsoft.com/office/drawing/2014/main" id="{FE0CEE5E-C69F-4E9A-8AD0-9DAF4A4443BF}"/>
              </a:ext>
            </a:extLst>
          </p:cNvPr>
          <p:cNvSpPr>
            <a:spLocks noGrp="1"/>
          </p:cNvSpPr>
          <p:nvPr/>
        </p:nvSpPr>
        <p:spPr>
          <a:xfrm>
            <a:off x="7429500" y="3810000"/>
            <a:ext cx="5429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A paired pilot with 5–8 players.</a:t>
            </a:r>
          </a:p>
          <a:p>
            <a:pPr algn="l">
              <a:defRPr sz="217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More human races for bot detection.</a:t>
            </a:r>
          </a:p>
        </p:txBody>
      </p:sp>
      <p:sp>
        <p:nvSpPr>
          <p:cNvPr id="11" name="Next integration">
            <a:extLst>
              <a:ext uri="{FF2B5EF4-FFF2-40B4-BE49-F238E27FC236}">
                <a16:creationId xmlns:a16="http://schemas.microsoft.com/office/drawing/2014/main" id="{548D5CDA-3F37-41B7-A862-D79924494C10}"/>
              </a:ext>
            </a:extLst>
          </p:cNvPr>
          <p:cNvSpPr>
            <a:spLocks noGrp="1"/>
          </p:cNvSpPr>
          <p:nvPr/>
        </p:nvSpPr>
        <p:spPr>
          <a:xfrm>
            <a:off x="7429500" y="5133975"/>
            <a:ext cx="5429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integration</a:t>
            </a:r>
          </a:p>
        </p:txBody>
      </p:sp>
      <p:sp>
        <p:nvSpPr>
          <p:cNvPr id="12" name="State snapshots to reduce analysis time.&#10;A se">
            <a:extLst>
              <a:ext uri="{FF2B5EF4-FFF2-40B4-BE49-F238E27FC236}">
                <a16:creationId xmlns:a16="http://schemas.microsoft.com/office/drawing/2014/main" id="{41B40F33-9D56-46A7-A2FE-B52FFDE2A915}"/>
              </a:ext>
            </a:extLst>
          </p:cNvPr>
          <p:cNvSpPr>
            <a:spLocks noGrp="1"/>
          </p:cNvSpPr>
          <p:nvPr/>
        </p:nvSpPr>
        <p:spPr>
          <a:xfrm>
            <a:off x="7429500" y="5819775"/>
            <a:ext cx="54292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State snapshots to reduce analysis time.</a:t>
            </a:r>
          </a:p>
          <a:p>
            <a:pPr algn="l">
              <a:defRPr sz="217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A second genre through a game adapter.</a:t>
            </a:r>
          </a:p>
        </p:txBody>
      </p:sp>
    </p:spTree>
    <p:extLst>
      <p:ext uri="{BB962C8B-B14F-4D97-AF65-F5344CB8AC3E}">
        <p14:creationId xmlns:p14="http://schemas.microsoft.com/office/powerpoint/2010/main" val="809439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FC22844B-9910-4CFE-9ACD-534266C5E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342900"/>
            <a:ext cx="2057400" cy="600075"/>
          </a:xfrm>
          <a:prstGeom prst="rect">
            <a:avLst/>
          </a:prstGeom>
        </p:spPr>
      </p:pic>
      <p:sp>
        <p:nvSpPr>
          <p:cNvPr id="2" name="11">
            <a:extLst>
              <a:ext uri="{FF2B5EF4-FFF2-40B4-BE49-F238E27FC236}">
                <a16:creationId xmlns:a16="http://schemas.microsoft.com/office/drawing/2014/main" id="{35B88EA4-9CFB-4D03-A2C1-BDB3EC13A183}"/>
              </a:ext>
            </a:extLst>
          </p:cNvPr>
          <p:cNvSpPr>
            <a:spLocks noGrp="1"/>
          </p:cNvSpPr>
          <p:nvPr/>
        </p:nvSpPr>
        <p:spPr>
          <a:xfrm>
            <a:off x="12287250" y="52387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Appendix: performance and cost">
            <a:extLst>
              <a:ext uri="{FF2B5EF4-FFF2-40B4-BE49-F238E27FC236}">
                <a16:creationId xmlns:a16="http://schemas.microsoft.com/office/drawing/2014/main" id="{CAD72F53-D3C7-4789-93F4-960A75F3ECF5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23444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Appendix: performance and cost</a:t>
            </a:r>
          </a:p>
        </p:txBody>
      </p:sp>
      <p:sp>
        <p:nvSpPr>
          <p:cNvPr id="4" name="Measured prototype values, before further acc">
            <a:extLst>
              <a:ext uri="{FF2B5EF4-FFF2-40B4-BE49-F238E27FC236}">
                <a16:creationId xmlns:a16="http://schemas.microsoft.com/office/drawing/2014/main" id="{B9358179-26AF-4708-83E9-14A814238BCF}"/>
              </a:ext>
            </a:extLst>
          </p:cNvPr>
          <p:cNvSpPr>
            <a:spLocks noGrp="1"/>
          </p:cNvSpPr>
          <p:nvPr/>
        </p:nvSpPr>
        <p:spPr>
          <a:xfrm>
            <a:off x="685800" y="2105025"/>
            <a:ext cx="12344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Measured prototype values, before further acceleration</a:t>
            </a: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3C7FC969-0BFF-4227-BD60-296C8FB7E65E}"/>
              </a:ext>
            </a:extLst>
          </p:cNvPr>
          <p:cNvGraphicFramePr/>
          <p:nvPr/>
        </p:nvGraphicFramePr>
        <p:xfrm>
          <a:off x="685800" y="3000375"/>
          <a:ext cx="12344400" cy="4152904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1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8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190500" marR="190500" marT="95250" marB="95250" anchor="ctr"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8F6"/>
                          </a:solidFill>
                          <a:latin typeface="Arial"/>
                          <a:ea typeface="Arial"/>
                          <a:cs typeface="Arial"/>
                        </a:rPr>
                        <a:t>Measured value</a:t>
                      </a:r>
                    </a:p>
                  </a:txBody>
                  <a:tcPr marL="190500" marR="190500" marT="95250" marB="95250" anchor="ctr">
                    <a:solidFill>
                      <a:srgbClr val="0C19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Replay speed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26× real time, about 5 s for two laps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Full analysis, six skills and three proofs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≈90 s for 4 cars, ≈200 s for 12 cars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Initial overview from game statistics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≈5 s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Memory per process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39 MB, reduced from 125 MB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Session file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1.1–1.7 MB per race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LLM baseline for comparison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14 calls, ≈26K tokens, ≈$0.04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ProofPlay proof engine LLM cost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$0, local physics simulation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040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>
            <a:extLst>
              <a:ext uri="{FF2B5EF4-FFF2-40B4-BE49-F238E27FC236}">
                <a16:creationId xmlns:a16="http://schemas.microsoft.com/office/drawing/2014/main" id="{F7AE3527-9F67-4C63-9F10-608843ED3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342900"/>
            <a:ext cx="2057400" cy="600075"/>
          </a:xfrm>
          <a:prstGeom prst="rect">
            <a:avLst/>
          </a:prstGeom>
        </p:spPr>
      </p:pic>
      <p:sp>
        <p:nvSpPr>
          <p:cNvPr id="2" name="12">
            <a:extLst>
              <a:ext uri="{FF2B5EF4-FFF2-40B4-BE49-F238E27FC236}">
                <a16:creationId xmlns:a16="http://schemas.microsoft.com/office/drawing/2014/main" id="{1B52BB70-CC9B-429E-B63B-CD6E2F697E5E}"/>
              </a:ext>
            </a:extLst>
          </p:cNvPr>
          <p:cNvSpPr>
            <a:spLocks noGrp="1"/>
          </p:cNvSpPr>
          <p:nvPr/>
        </p:nvSpPr>
        <p:spPr>
          <a:xfrm>
            <a:off x="12287250" y="52387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Appendix: AI and evaluation coverage">
            <a:extLst>
              <a:ext uri="{FF2B5EF4-FFF2-40B4-BE49-F238E27FC236}">
                <a16:creationId xmlns:a16="http://schemas.microsoft.com/office/drawing/2014/main" id="{421A00E4-A561-4AC3-BE46-339C7AECD26A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23444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Appendix: AI and evaluation coverage</a:t>
            </a:r>
          </a:p>
        </p:txBody>
      </p:sp>
      <p:sp>
        <p:nvSpPr>
          <p:cNvPr id="4" name="Search and planning provide the coaching inte">
            <a:extLst>
              <a:ext uri="{FF2B5EF4-FFF2-40B4-BE49-F238E27FC236}">
                <a16:creationId xmlns:a16="http://schemas.microsoft.com/office/drawing/2014/main" id="{2B09DF76-A7BF-4649-A5E2-CFFD1232B7FA}"/>
              </a:ext>
            </a:extLst>
          </p:cNvPr>
          <p:cNvSpPr>
            <a:spLocks noGrp="1"/>
          </p:cNvSpPr>
          <p:nvPr/>
        </p:nvSpPr>
        <p:spPr>
          <a:xfrm>
            <a:off x="685800" y="2105025"/>
            <a:ext cx="12344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Search and planning provide the coaching intelligence. Physics verifies the output.</a:t>
            </a: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C4203F28-27F4-45B7-BD0F-726F0D8049C2}"/>
              </a:ext>
            </a:extLst>
          </p:cNvPr>
          <p:cNvGraphicFramePr/>
          <p:nvPr/>
        </p:nvGraphicFramePr>
        <p:xfrm>
          <a:off x="685800" y="2952750"/>
          <a:ext cx="12344400" cy="3533778"/>
        </p:xfrm>
        <a:graphic>
          <a:graphicData uri="http://schemas.openxmlformats.org/drawingml/2006/table">
            <a:tbl>
              <a:tblPr/>
              <a:tblGrid>
                <a:gridCol w="370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9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5F8F6"/>
                          </a:solidFill>
                          <a:latin typeface="Arial"/>
                          <a:ea typeface="Arial"/>
                          <a:cs typeface="Arial"/>
                        </a:rPr>
                        <a:t>Evaluation criterion</a:t>
                      </a:r>
                    </a:p>
                  </a:txBody>
                  <a:tcPr marL="190500" marR="190500" marT="95250" marB="95250" anchor="ctr"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5F8F6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190500" marR="190500" marT="95250" marB="95250" anchor="ctr">
                    <a:solidFill>
                      <a:srgbClr val="0C19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5F8F6"/>
                          </a:solidFill>
                          <a:latin typeface="Arial"/>
                          <a:ea typeface="Arial"/>
                          <a:cs typeface="Arial"/>
                        </a:rPr>
                        <a:t>Evidence in this pitch</a:t>
                      </a:r>
                    </a:p>
                  </a:txBody>
                  <a:tcPr marL="190500" marR="190500" marT="95250" marB="95250" anchor="ctr">
                    <a:solidFill>
                      <a:srgbClr val="0C19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Player problem and actionable coaching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Prototype and AI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Counterfactual search and live debrief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Testing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Three-coach comparison, replay and tamper tests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Implementation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Measured memory, latency and integration plan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Originality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Simulation-verified advice before publication</a:t>
                      </a:r>
                    </a:p>
                  </a:txBody>
                  <a:tcPr marL="190500" marR="1905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Game adapter plan: SaveState, LoadState, Step">
            <a:extLst>
              <a:ext uri="{FF2B5EF4-FFF2-40B4-BE49-F238E27FC236}">
                <a16:creationId xmlns:a16="http://schemas.microsoft.com/office/drawing/2014/main" id="{AFBFB158-000A-464B-A432-F7B9ED6A6270}"/>
              </a:ext>
            </a:extLst>
          </p:cNvPr>
          <p:cNvSpPr>
            <a:spLocks noGrp="1"/>
          </p:cNvSpPr>
          <p:nvPr/>
        </p:nvSpPr>
        <p:spPr>
          <a:xfrm>
            <a:off x="685800" y="6772275"/>
            <a:ext cx="12344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087F5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53"/>
                </a:solidFill>
                <a:latin typeface="Arial"/>
                <a:ea typeface="Arial"/>
                <a:cs typeface="Arial"/>
              </a:rPr>
              <a:t>Game adapter plan: SaveState, LoadState, Step(input), result condition.</a:t>
            </a:r>
          </a:p>
        </p:txBody>
      </p:sp>
      <p:sp>
        <p:nvSpPr>
          <p:cNvPr id="7" name="Criterion weights come from the project’s pit">
            <a:extLst>
              <a:ext uri="{FF2B5EF4-FFF2-40B4-BE49-F238E27FC236}">
                <a16:creationId xmlns:a16="http://schemas.microsoft.com/office/drawing/2014/main" id="{AA73FCAE-FB89-48B7-93D4-5B704157C705}"/>
              </a:ext>
            </a:extLst>
          </p:cNvPr>
          <p:cNvSpPr>
            <a:spLocks noGrp="1"/>
          </p:cNvSpPr>
          <p:nvPr/>
        </p:nvSpPr>
        <p:spPr>
          <a:xfrm>
            <a:off x="685800" y="7210425"/>
            <a:ext cx="12344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656B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6B68"/>
                </a:solidFill>
                <a:latin typeface="Arial"/>
                <a:ea typeface="Arial"/>
                <a:cs typeface="Arial"/>
              </a:rPr>
              <a:t>Criterion weights come from the project’s pitch brief. Human impact testing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1896564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Resim 19">
            <a:extLst>
              <a:ext uri="{FF2B5EF4-FFF2-40B4-BE49-F238E27FC236}">
                <a16:creationId xmlns:a16="http://schemas.microsoft.com/office/drawing/2014/main" id="{25C0540A-1144-43DA-8CA2-E99C0A2E9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342900"/>
            <a:ext cx="2057400" cy="600075"/>
          </a:xfrm>
          <a:prstGeom prst="rect">
            <a:avLst/>
          </a:prstGeom>
        </p:spPr>
      </p:pic>
      <p:sp>
        <p:nvSpPr>
          <p:cNvPr id="2" name="10">
            <a:extLst>
              <a:ext uri="{FF2B5EF4-FFF2-40B4-BE49-F238E27FC236}">
                <a16:creationId xmlns:a16="http://schemas.microsoft.com/office/drawing/2014/main" id="{03B2B70B-A7A8-456F-B2E7-A4CFDA504B76}"/>
              </a:ext>
            </a:extLst>
          </p:cNvPr>
          <p:cNvSpPr>
            <a:spLocks noGrp="1"/>
          </p:cNvSpPr>
          <p:nvPr/>
        </p:nvSpPr>
        <p:spPr>
          <a:xfrm>
            <a:off x="12287250" y="52387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9AAC9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0">
                <a:solidFill>
                  <a:srgbClr val="9AAC9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AC9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AVIS team">
            <a:extLst>
              <a:ext uri="{FF2B5EF4-FFF2-40B4-BE49-F238E27FC236}">
                <a16:creationId xmlns:a16="http://schemas.microsoft.com/office/drawing/2014/main" id="{16A9D306-498E-4497-A5D0-A7CD5E3697F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23444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5F8F6"/>
                </a:solidFill>
                <a:latin typeface="Arial"/>
                <a:ea typeface="Arial"/>
                <a:cs typeface="Arial"/>
              </a:rPr>
              <a:t>AVIS team</a:t>
            </a:r>
          </a:p>
        </p:txBody>
      </p:sp>
      <p:sp>
        <p:nvSpPr>
          <p:cNvPr id="4" name="RJ">
            <a:extLst>
              <a:ext uri="{FF2B5EF4-FFF2-40B4-BE49-F238E27FC236}">
                <a16:creationId xmlns:a16="http://schemas.microsoft.com/office/drawing/2014/main" id="{31CD1FDE-A227-4911-A167-320AC96CBA64}"/>
              </a:ext>
            </a:extLst>
          </p:cNvPr>
          <p:cNvSpPr>
            <a:spLocks noGrp="1"/>
          </p:cNvSpPr>
          <p:nvPr/>
        </p:nvSpPr>
        <p:spPr>
          <a:xfrm>
            <a:off x="685800" y="3228975"/>
            <a:ext cx="21336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6300" b="1">
                <a:solidFill>
                  <a:srgbClr val="4ADE8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6300" b="1">
                <a:solidFill>
                  <a:srgbClr val="4ADE80"/>
                </a:solidFill>
                <a:latin typeface="Arial"/>
                <a:ea typeface="Arial"/>
                <a:cs typeface="Arial"/>
              </a:defRPr>
            </a:pPr>
            <a:endParaRPr sz="6300" b="1" dirty="0">
              <a:solidFill>
                <a:srgbClr val="4ADE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auf Jafarov">
            <a:extLst>
              <a:ext uri="{FF2B5EF4-FFF2-40B4-BE49-F238E27FC236}">
                <a16:creationId xmlns:a16="http://schemas.microsoft.com/office/drawing/2014/main" id="{7C039FF3-1811-457F-B411-5E9F56C41B6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2266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pPr>
            <a:r>
              <a:rPr lang="en-US" sz="2025" b="1" dirty="0" err="1">
                <a:solidFill>
                  <a:srgbClr val="F5F8F6"/>
                </a:solidFill>
                <a:latin typeface="Arial"/>
                <a:ea typeface="Arial"/>
                <a:cs typeface="Arial"/>
              </a:rPr>
              <a:t>Rufat</a:t>
            </a:r>
            <a:r>
              <a:rPr lang="en-US" sz="2025" b="1" dirty="0">
                <a:solidFill>
                  <a:srgbClr val="F5F8F6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25" b="1" dirty="0" err="1">
                <a:solidFill>
                  <a:srgbClr val="F5F8F6"/>
                </a:solidFill>
                <a:latin typeface="Arial"/>
                <a:ea typeface="Arial"/>
                <a:cs typeface="Arial"/>
              </a:rPr>
              <a:t>Dostaliyev</a:t>
            </a:r>
            <a:endParaRPr sz="2025" b="1" dirty="0">
              <a:solidFill>
                <a:srgbClr val="F5F8F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Fullstack Developer">
            <a:extLst>
              <a:ext uri="{FF2B5EF4-FFF2-40B4-BE49-F238E27FC236}">
                <a16:creationId xmlns:a16="http://schemas.microsoft.com/office/drawing/2014/main" id="{8F19B18C-CBD1-4BD9-B162-0DCCEC996DB7}"/>
              </a:ext>
            </a:extLst>
          </p:cNvPr>
          <p:cNvSpPr>
            <a:spLocks noGrp="1"/>
          </p:cNvSpPr>
          <p:nvPr/>
        </p:nvSpPr>
        <p:spPr>
          <a:xfrm>
            <a:off x="685800" y="5781675"/>
            <a:ext cx="22669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pPr>
            <a:r>
              <a:rPr lang="en-US" sz="1650" b="0" dirty="0">
                <a:solidFill>
                  <a:srgbClr val="AFBFB4"/>
                </a:solidFill>
                <a:latin typeface="Arial"/>
                <a:ea typeface="Arial"/>
                <a:cs typeface="Arial"/>
              </a:rPr>
              <a:t>Data &amp; ML </a:t>
            </a:r>
            <a:endParaRPr sz="1650" b="0" dirty="0">
              <a:solidFill>
                <a:srgbClr val="AFBFB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B4E0BEFD-C075-4B25-A96C-E7DEDC70F2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39" b="1339"/>
          <a:stretch>
            <a:fillRect/>
          </a:stretch>
        </p:blipFill>
        <p:spPr>
          <a:xfrm>
            <a:off x="3200400" y="2828925"/>
            <a:ext cx="2133600" cy="2076450"/>
          </a:xfrm>
          <a:prstGeom prst="rect">
            <a:avLst/>
          </a:prstGeom>
        </p:spPr>
      </p:pic>
      <p:sp>
        <p:nvSpPr>
          <p:cNvPr id="8" name="Omar Musazada">
            <a:extLst>
              <a:ext uri="{FF2B5EF4-FFF2-40B4-BE49-F238E27FC236}">
                <a16:creationId xmlns:a16="http://schemas.microsoft.com/office/drawing/2014/main" id="{8B571125-34B7-4849-BB5D-D7149D9DA43E}"/>
              </a:ext>
            </a:extLst>
          </p:cNvPr>
          <p:cNvSpPr>
            <a:spLocks noGrp="1"/>
          </p:cNvSpPr>
          <p:nvPr/>
        </p:nvSpPr>
        <p:spPr>
          <a:xfrm>
            <a:off x="3200400" y="5162550"/>
            <a:ext cx="2266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8F6"/>
                </a:solidFill>
                <a:latin typeface="Arial"/>
                <a:ea typeface="Arial"/>
                <a:cs typeface="Arial"/>
              </a:rPr>
              <a:t>Omar Musazada</a:t>
            </a:r>
          </a:p>
        </p:txBody>
      </p:sp>
      <p:sp>
        <p:nvSpPr>
          <p:cNvPr id="9" name="iOS Developer">
            <a:extLst>
              <a:ext uri="{FF2B5EF4-FFF2-40B4-BE49-F238E27FC236}">
                <a16:creationId xmlns:a16="http://schemas.microsoft.com/office/drawing/2014/main" id="{D7F48F0B-623A-4668-BCC5-ED125D8FA4CB}"/>
              </a:ext>
            </a:extLst>
          </p:cNvPr>
          <p:cNvSpPr>
            <a:spLocks noGrp="1"/>
          </p:cNvSpPr>
          <p:nvPr/>
        </p:nvSpPr>
        <p:spPr>
          <a:xfrm>
            <a:off x="3200400" y="5810250"/>
            <a:ext cx="22669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pPr>
            <a:r>
              <a:rPr lang="en-US" sz="1650" b="0" dirty="0">
                <a:solidFill>
                  <a:srgbClr val="AFBFB4"/>
                </a:solidFill>
                <a:latin typeface="Arial"/>
                <a:ea typeface="Arial"/>
                <a:cs typeface="Arial"/>
              </a:rPr>
              <a:t>Product Manager</a:t>
            </a:r>
            <a:endParaRPr sz="1650" b="0" dirty="0">
              <a:solidFill>
                <a:srgbClr val="AFBFB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193F1AD5-B7F8-460C-8454-0A1A8B1673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39" b="1339"/>
          <a:stretch>
            <a:fillRect/>
          </a:stretch>
        </p:blipFill>
        <p:spPr>
          <a:xfrm>
            <a:off x="5715000" y="2828925"/>
            <a:ext cx="2133600" cy="2076450"/>
          </a:xfrm>
          <a:prstGeom prst="rect">
            <a:avLst/>
          </a:prstGeom>
        </p:spPr>
      </p:pic>
      <p:sp>
        <p:nvSpPr>
          <p:cNvPr id="11" name="Farrukh Mammadli">
            <a:extLst>
              <a:ext uri="{FF2B5EF4-FFF2-40B4-BE49-F238E27FC236}">
                <a16:creationId xmlns:a16="http://schemas.microsoft.com/office/drawing/2014/main" id="{54295D36-E6A7-488B-80BE-FE677CA3A5E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2266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8F6"/>
                </a:solidFill>
                <a:latin typeface="Arial"/>
                <a:ea typeface="Arial"/>
                <a:cs typeface="Arial"/>
              </a:rPr>
              <a:t>Farrukh Mammadli</a:t>
            </a:r>
          </a:p>
        </p:txBody>
      </p:sp>
      <p:sp>
        <p:nvSpPr>
          <p:cNvPr id="12" name="UI/UX Designer &amp;&#10;Business Analytics">
            <a:extLst>
              <a:ext uri="{FF2B5EF4-FFF2-40B4-BE49-F238E27FC236}">
                <a16:creationId xmlns:a16="http://schemas.microsoft.com/office/drawing/2014/main" id="{8E615E12-7FC5-4F16-9279-4739777D4317}"/>
              </a:ext>
            </a:extLst>
          </p:cNvPr>
          <p:cNvSpPr>
            <a:spLocks noGrp="1"/>
          </p:cNvSpPr>
          <p:nvPr/>
        </p:nvSpPr>
        <p:spPr>
          <a:xfrm>
            <a:off x="5715000" y="5810250"/>
            <a:ext cx="22669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AFBFB4"/>
                </a:solidFill>
                <a:latin typeface="Arial"/>
                <a:ea typeface="Arial"/>
                <a:cs typeface="Arial"/>
              </a:rPr>
              <a:t>UI/UX Designer</a:t>
            </a:r>
          </a:p>
        </p:txBody>
      </p:sp>
      <p:sp>
        <p:nvSpPr>
          <p:cNvPr id="14" name="Ibrahim Mammadov">
            <a:extLst>
              <a:ext uri="{FF2B5EF4-FFF2-40B4-BE49-F238E27FC236}">
                <a16:creationId xmlns:a16="http://schemas.microsoft.com/office/drawing/2014/main" id="{16D5F6F8-01D0-4FBE-A91F-6DABB0A610DF}"/>
              </a:ext>
            </a:extLst>
          </p:cNvPr>
          <p:cNvSpPr>
            <a:spLocks noGrp="1"/>
          </p:cNvSpPr>
          <p:nvPr/>
        </p:nvSpPr>
        <p:spPr>
          <a:xfrm>
            <a:off x="8229599" y="5162550"/>
            <a:ext cx="2443523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pPr>
            <a:r>
              <a:rPr lang="en-US" sz="2025" b="1" dirty="0" err="1">
                <a:solidFill>
                  <a:srgbClr val="F5F8F6"/>
                </a:solidFill>
                <a:latin typeface="Arial"/>
                <a:ea typeface="Arial"/>
                <a:cs typeface="Arial"/>
              </a:rPr>
              <a:t>Ravan</a:t>
            </a:r>
            <a:r>
              <a:rPr lang="en-US" sz="2025" b="1" dirty="0">
                <a:solidFill>
                  <a:srgbClr val="F5F8F6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25" b="1" dirty="0" err="1">
                <a:solidFill>
                  <a:srgbClr val="F5F8F6"/>
                </a:solidFill>
                <a:latin typeface="Arial"/>
                <a:ea typeface="Arial"/>
                <a:cs typeface="Arial"/>
              </a:rPr>
              <a:t>Khanbabayev</a:t>
            </a:r>
            <a:endParaRPr sz="2025" b="1" dirty="0">
              <a:solidFill>
                <a:srgbClr val="F5F8F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roject Manager">
            <a:extLst>
              <a:ext uri="{FF2B5EF4-FFF2-40B4-BE49-F238E27FC236}">
                <a16:creationId xmlns:a16="http://schemas.microsoft.com/office/drawing/2014/main" id="{C18B8CBD-37E6-47B7-9058-471FC052C197}"/>
              </a:ext>
            </a:extLst>
          </p:cNvPr>
          <p:cNvSpPr>
            <a:spLocks noGrp="1"/>
          </p:cNvSpPr>
          <p:nvPr/>
        </p:nvSpPr>
        <p:spPr>
          <a:xfrm>
            <a:off x="8229600" y="5810250"/>
            <a:ext cx="22669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pPr>
            <a:r>
              <a:rPr lang="en-US" sz="1650" b="0" dirty="0">
                <a:solidFill>
                  <a:srgbClr val="AFBFB4"/>
                </a:solidFill>
                <a:latin typeface="Arial"/>
                <a:ea typeface="Arial"/>
                <a:cs typeface="Arial"/>
              </a:rPr>
              <a:t>IT </a:t>
            </a:r>
            <a:r>
              <a:rPr lang="tr-TR" sz="1650" b="0" dirty="0">
                <a:solidFill>
                  <a:srgbClr val="AFBFB4"/>
                </a:solidFill>
                <a:latin typeface="Arial"/>
                <a:ea typeface="Arial"/>
                <a:cs typeface="Arial"/>
              </a:rPr>
              <a:t>Business </a:t>
            </a:r>
            <a:r>
              <a:rPr lang="tr-TR" sz="1650" b="0" dirty="0" err="1">
                <a:solidFill>
                  <a:srgbClr val="AFBFB4"/>
                </a:solidFill>
                <a:latin typeface="Arial"/>
                <a:ea typeface="Arial"/>
                <a:cs typeface="Arial"/>
              </a:rPr>
              <a:t>Analytics</a:t>
            </a:r>
            <a:endParaRPr lang="tr-TR" sz="1650" b="0" dirty="0">
              <a:solidFill>
                <a:srgbClr val="AFBFB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FEA62712-1AE4-48D5-B558-9CFA10F782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7" r="377"/>
          <a:stretch>
            <a:fillRect/>
          </a:stretch>
        </p:blipFill>
        <p:spPr>
          <a:xfrm>
            <a:off x="10744200" y="2828925"/>
            <a:ext cx="2133600" cy="2076450"/>
          </a:xfrm>
          <a:prstGeom prst="rect">
            <a:avLst/>
          </a:prstGeom>
        </p:spPr>
      </p:pic>
      <p:sp>
        <p:nvSpPr>
          <p:cNvPr id="17" name="Sanan Hajiyev">
            <a:extLst>
              <a:ext uri="{FF2B5EF4-FFF2-40B4-BE49-F238E27FC236}">
                <a16:creationId xmlns:a16="http://schemas.microsoft.com/office/drawing/2014/main" id="{9F21B269-71ED-4A5C-9FF9-A1F8A5F17DC9}"/>
              </a:ext>
            </a:extLst>
          </p:cNvPr>
          <p:cNvSpPr>
            <a:spLocks noGrp="1"/>
          </p:cNvSpPr>
          <p:nvPr/>
        </p:nvSpPr>
        <p:spPr>
          <a:xfrm>
            <a:off x="10744200" y="5162550"/>
            <a:ext cx="2266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5F8F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8F6"/>
                </a:solidFill>
                <a:latin typeface="Arial"/>
                <a:ea typeface="Arial"/>
                <a:cs typeface="Arial"/>
              </a:rPr>
              <a:t>Sanan Hajiyev</a:t>
            </a:r>
          </a:p>
        </p:txBody>
      </p:sp>
      <p:sp>
        <p:nvSpPr>
          <p:cNvPr id="18" name="Fullstack Developer">
            <a:extLst>
              <a:ext uri="{FF2B5EF4-FFF2-40B4-BE49-F238E27FC236}">
                <a16:creationId xmlns:a16="http://schemas.microsoft.com/office/drawing/2014/main" id="{486280CA-4E0A-42F6-9D6E-276773481A4C}"/>
              </a:ext>
            </a:extLst>
          </p:cNvPr>
          <p:cNvSpPr>
            <a:spLocks noGrp="1"/>
          </p:cNvSpPr>
          <p:nvPr/>
        </p:nvSpPr>
        <p:spPr>
          <a:xfrm>
            <a:off x="10744200" y="5810250"/>
            <a:ext cx="22669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AFBFB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FBFB4"/>
                </a:solidFill>
                <a:latin typeface="Arial"/>
                <a:ea typeface="Arial"/>
                <a:cs typeface="Arial"/>
              </a:rPr>
              <a:t>Fullstack Developer</a:t>
            </a:r>
          </a:p>
        </p:txBody>
      </p:sp>
      <p:sp>
        <p:nvSpPr>
          <p:cNvPr id="19" name="Advice backed by a replay. Questions?">
            <a:extLst>
              <a:ext uri="{FF2B5EF4-FFF2-40B4-BE49-F238E27FC236}">
                <a16:creationId xmlns:a16="http://schemas.microsoft.com/office/drawing/2014/main" id="{C4FC9DAE-21D5-4830-BB8F-53729E1581DB}"/>
              </a:ext>
            </a:extLst>
          </p:cNvPr>
          <p:cNvSpPr>
            <a:spLocks noGrp="1"/>
          </p:cNvSpPr>
          <p:nvPr/>
        </p:nvSpPr>
        <p:spPr>
          <a:xfrm>
            <a:off x="685800" y="6838950"/>
            <a:ext cx="123444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75" b="1">
                <a:solidFill>
                  <a:srgbClr val="4ADE8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75" b="1">
                <a:solidFill>
                  <a:srgbClr val="4ADE80"/>
                </a:solidFill>
                <a:latin typeface="Arial"/>
                <a:ea typeface="Arial"/>
                <a:cs typeface="Arial"/>
              </a:defRPr>
            </a:pPr>
            <a:r>
              <a:rPr sz="3075" b="1" dirty="0">
                <a:solidFill>
                  <a:srgbClr val="4ADE80"/>
                </a:solidFill>
                <a:latin typeface="Arial"/>
                <a:ea typeface="Arial"/>
                <a:cs typeface="Arial"/>
              </a:rPr>
              <a:t>Advice backed by a replay. Questions?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7A80588-524F-4E17-BD25-28380C65D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2828925"/>
            <a:ext cx="2142645" cy="2142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40F7EBA-1130-4C7F-8503-7E757310A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801791"/>
            <a:ext cx="2103584" cy="210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3743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2012</Words>
  <Application>Microsoft Office PowerPoint</Application>
  <DocSecurity>0</DocSecurity>
  <PresentationFormat>Özel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5" baseType="lpstr">
      <vt:lpstr>Aptos</vt:lpstr>
      <vt:lpstr>Arial</vt:lpstr>
      <vt:lpstr>ChatGPT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Sanan Hajiyev</cp:lastModifiedBy>
  <cp:revision>1</cp:revision>
  <dcterms:created xsi:type="dcterms:W3CDTF">2026-10-09T15:58:18Z</dcterms:created>
  <dcterms:modified xsi:type="dcterms:W3CDTF">2026-10-09T16:05:50Z</dcterms:modified>
</cp:coreProperties>
</file>